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81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956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87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49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18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48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09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79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9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95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553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775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996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41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027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665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84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5F2889E-8D16-4A46-AC07-E8B8345A462A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89D4F-38C6-489F-B454-3A179EBC4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948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800" dirty="0"/>
              <a:t>Общие сведения о цифровых интегральных схемах малой и средней</a:t>
            </a:r>
            <a:br>
              <a:rPr lang="ru-RU" sz="2800" dirty="0"/>
            </a:br>
            <a:r>
              <a:rPr lang="ru-RU" sz="2800" dirty="0"/>
              <a:t>степени интеграции. Большие интегральные схемы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456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Цифровые интегральные микросхемы наиболее распространенных серий малой и средней степени интеграции в ЭСПУ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Цифровая интегральная микросхема (ЦИМС) </a:t>
            </a:r>
            <a:r>
              <a:rPr lang="ru-RU" dirty="0"/>
              <a:t>– микроэлектронное изделие, состоящее из активных и пассивных элементов, а также соединительных проводников, изготовленных в едином технологическом процессе, заключенных в общий корпус и представляющих собой неразделимое целое.</a:t>
            </a:r>
          </a:p>
          <a:p>
            <a:r>
              <a:rPr lang="ru-RU" dirty="0"/>
              <a:t> </a:t>
            </a:r>
          </a:p>
          <a:p>
            <a:r>
              <a:rPr lang="ru-RU" b="1" dirty="0"/>
              <a:t>Малая интегральная микросхема (МИС)</a:t>
            </a:r>
            <a:r>
              <a:rPr lang="ru-RU" dirty="0"/>
              <a:t> - ИС, содержащая до 100 элементов и (или) компонентов включительно.</a:t>
            </a:r>
          </a:p>
          <a:p>
            <a:r>
              <a:rPr lang="ru-RU" b="1" dirty="0"/>
              <a:t>Средняя интегральная микросхема (СИС</a:t>
            </a:r>
            <a:r>
              <a:rPr lang="ru-RU" b="1" i="1" dirty="0"/>
              <a:t>)</a:t>
            </a:r>
            <a:r>
              <a:rPr lang="ru-RU" dirty="0"/>
              <a:t> - ИС, содержащая свыше 100 до 1000 элементов и (или) компонентов для цифровых ИС и свыше 100 до 500 – для аналоговых.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196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3" y="307063"/>
            <a:ext cx="8825659" cy="1981200"/>
          </a:xfrm>
        </p:spPr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ЦИМС классифицируются</a:t>
            </a:r>
            <a:r>
              <a:rPr lang="ru-RU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следующим признакам:	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62962" y="1312752"/>
            <a:ext cx="11081442" cy="5423025"/>
          </a:xfrm>
        </p:spPr>
        <p:txBody>
          <a:bodyPr>
            <a:noAutofit/>
          </a:bodyPr>
          <a:lstStyle/>
          <a:p>
            <a:r>
              <a:rPr lang="ru-RU" sz="1600" dirty="0"/>
              <a:t>1. По строению:</a:t>
            </a:r>
          </a:p>
          <a:p>
            <a:r>
              <a:rPr lang="ru-RU" sz="1600" dirty="0"/>
              <a:t>   - построены на биполярных транзисторах:</a:t>
            </a:r>
          </a:p>
          <a:p>
            <a:r>
              <a:rPr lang="ru-RU" sz="1600" dirty="0"/>
              <a:t>а) ТТЛ – транзисторно-транзисторная логика;</a:t>
            </a:r>
          </a:p>
          <a:p>
            <a:r>
              <a:rPr lang="ru-RU" sz="1600" dirty="0"/>
              <a:t>б) ТТЛШ – транзисторно-транзисторная логика с диодами  </a:t>
            </a:r>
            <a:r>
              <a:rPr lang="ru-RU" sz="1600" dirty="0" err="1"/>
              <a:t>Шотке</a:t>
            </a:r>
            <a:r>
              <a:rPr lang="ru-RU" sz="1600" dirty="0"/>
              <a:t>;</a:t>
            </a:r>
          </a:p>
          <a:p>
            <a:r>
              <a:rPr lang="ru-RU" sz="1600" dirty="0"/>
              <a:t>в) ЭСЛ – </a:t>
            </a:r>
            <a:r>
              <a:rPr lang="ru-RU" sz="1600" dirty="0" err="1"/>
              <a:t>эмитерно</a:t>
            </a:r>
            <a:r>
              <a:rPr lang="ru-RU" sz="1600" dirty="0"/>
              <a:t>-связанная логика;</a:t>
            </a:r>
          </a:p>
          <a:p>
            <a:r>
              <a:rPr lang="ru-RU" sz="1600" dirty="0"/>
              <a:t>г) И2Л – интегрально-инжекционная логика.</a:t>
            </a:r>
          </a:p>
          <a:p>
            <a:r>
              <a:rPr lang="ru-RU" sz="1600" dirty="0"/>
              <a:t>   - на полевых транзисторах:</a:t>
            </a:r>
          </a:p>
          <a:p>
            <a:r>
              <a:rPr lang="ru-RU" sz="1600" dirty="0"/>
              <a:t>а) n-МОП и p-МОП – логика на однотипных полевых транзистора; </a:t>
            </a:r>
          </a:p>
          <a:p>
            <a:r>
              <a:rPr lang="ru-RU" sz="1600" dirty="0"/>
              <a:t>б) КМОП – логика на </a:t>
            </a:r>
            <a:r>
              <a:rPr lang="ru-RU" sz="1600" dirty="0" err="1"/>
              <a:t>комплиментарных</a:t>
            </a:r>
            <a:r>
              <a:rPr lang="ru-RU" sz="1600" dirty="0"/>
              <a:t> полевых транзисторах (</a:t>
            </a:r>
            <a:r>
              <a:rPr lang="ru-RU" sz="1600" dirty="0" err="1"/>
              <a:t>металоксид</a:t>
            </a:r>
            <a:r>
              <a:rPr lang="ru-RU" sz="1600" dirty="0"/>
              <a:t> полупроводник).</a:t>
            </a:r>
          </a:p>
          <a:p>
            <a:r>
              <a:rPr lang="ru-RU" sz="1600" dirty="0"/>
              <a:t>2. По функциональному назначению:</a:t>
            </a:r>
          </a:p>
          <a:p>
            <a:r>
              <a:rPr lang="ru-RU" sz="1600" dirty="0"/>
              <a:t>      • АНАЛОГОВЫЕ;</a:t>
            </a:r>
          </a:p>
          <a:p>
            <a:r>
              <a:rPr lang="ru-RU" sz="1600" dirty="0"/>
              <a:t>      • ЦИФРОВЫЕ.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554" y="1623588"/>
            <a:ext cx="3699850" cy="23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3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6066" y="551507"/>
            <a:ext cx="8825659" cy="1981200"/>
          </a:xfrm>
        </p:spPr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По степени интеграции: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малые ИМС – до 10 элементов (МИС);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средние ИМС – от 10 до 100 элементов (СИС);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большие ИМС– от 100 до 105 элементов (БИС);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сверхбольшие ИМС – 105 и более элементов (СБИС).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В зависимости от технологии изготовления ИМС бывают: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ПОЛУПРОВОДНИКОВЫЕ - все элементы и межэлементные соединения выполнены на одном полупроводниковом кристалле (например, кремния, германия, арсенида галлия, оксид гафния);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ПЛЕНОЧНЫЕ - все элементы и межэлементные соединения выполнены в виде плёнок;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ГИБРИДНЫЕ - кроме полупроводникового кристалла содержит несколько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бескорпусных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диодов, транзисторов и(или) других электронных компонентов, помещённых в один корпус;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СМЕШАННЫЕ - кроме полупроводникового кристалла содержит тонкоплёночные (толстоплёночные) пассивные элементы, размещённые на поверхности кристалла.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62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9152" y="397598"/>
            <a:ext cx="8825659" cy="1981200"/>
          </a:xfrm>
        </p:spPr>
        <p:txBody>
          <a:bodyPr/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ЦИМС: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019151" y="2897109"/>
            <a:ext cx="8825659" cy="2362200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Нагрузочная способность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Нагрузочная способность характеризует способность логического элемента получить сигнал от нескольких источников информации и одновременно быть источником информации для ряда других элементов.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численной характеристики используют: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коэффициент разветвления по выходу </a:t>
            </a:r>
            <a:r>
              <a:rPr lang="ru-RU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6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максимальному числу входов однотипных логических элементов, которые могут быть подключены к выходу данного логического элемента, не вызывая при этом искажений формы и амплитуды его сигнала , выходящих за границы зон отображения уровней логического 0 и логической 1.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коэффициент объединения по входу </a:t>
            </a:r>
            <a:r>
              <a:rPr lang="ru-RU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6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максимальному числу выходов однотипных логических элементов, которые могут быть подключены по входу данного логического элемента, не вызывая при этом искажений формы и амплитуды его сигнала, выходящих за границы зон отображения уровней логического 0 и логической 1.</a:t>
            </a:r>
          </a:p>
          <a:p>
            <a:pPr lvl="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параметры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входное и выходное напряжение логического 0 и логической 1: 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входные и выходные токи – токи потребления в составе 0 и 1.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потребляемая мощность </a:t>
            </a:r>
            <a:r>
              <a:rPr lang="ru-RU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6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оценивается по средней мощности (P</a:t>
            </a:r>
            <a:r>
              <a:rPr lang="ru-RU" sz="6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пот.1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+Р</a:t>
            </a:r>
            <a:r>
              <a:rPr lang="ru-RU" sz="6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пот.0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)/2.</a:t>
            </a:r>
          </a:p>
          <a:p>
            <a:pPr lvl="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Помехоустойчивость – свойство нечувствительности логических элементов к отклонениям его входных сигналов от асимптотических значений (т.е. уровней логического 0 и логической 1).</a:t>
            </a:r>
          </a:p>
          <a:p>
            <a:pPr lvl="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Быстродействие – временной интервал между перепадами входного и выходного U, измеренный по заданному уровню (</a:t>
            </a:r>
            <a:r>
              <a:rPr lang="ru-RU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полусумме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логического 0 и логической 1).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52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6601" y="298010"/>
            <a:ext cx="8825659" cy="1981200"/>
          </a:xfrm>
        </p:spPr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БИС памяти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055366" y="2562130"/>
            <a:ext cx="8825659" cy="2362200"/>
          </a:xfrm>
        </p:spPr>
        <p:txBody>
          <a:bodyPr>
            <a:no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 интегральная схема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(БИС) - интегральная схема (ИС) с высокой степенью интеграции (число элементов в ней достигает 10000), используется в электронной аппаратуре как функционально законченный узел устройств вычислительной техники, автоматики, измерительной техники и др. По количеству элементов все интегральные схемы условно делят на следующие категории: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простые (ПИС) - с количеством элементов в кристалле до 10,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малые (МИС) - до 100,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средние (СИС) - до 1000,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большие (БИС) - до 10000, 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сверхбольшие (СБИС) - 1000000,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ультрабольшие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(УБИС) - до 1000000000,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 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гигабольшие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(ГБИС) - более 1000000000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элементов в кристалле.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815" y="3497679"/>
            <a:ext cx="5783719" cy="28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2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569614"/>
            <a:ext cx="8825659" cy="1981200"/>
          </a:xfrm>
        </p:spPr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общей характеристик БИС памяти принимают в расчёт прежде всего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информационную емкость, быстродействие, энергопотребление.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54954" y="2550814"/>
            <a:ext cx="8825659" cy="3578382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ёмкость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максимально возможный объём данных, который может сохранить данное устройство памяти. Ёмкость памяти измеряется в тех же самых единицах, что и объём информации, т. е. в битах, байтах и производных единицах (чаще всего — в мегабайтах или гигабайтах).</a:t>
            </a:r>
          </a:p>
          <a:p>
            <a:pPr fontAlgn="base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Быстродействие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 параметр датчика, позволяющий оценить: как выходной сигнал следует во времени за изменением измеряемой величины.</a:t>
            </a:r>
          </a:p>
          <a:p>
            <a:pPr fontAlgn="base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Энергопотребление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процесс потребления энергии и/или энергоносителей при производстве продукции, при выполнении работ и оказании услуг в технологических процессах изготовления, эксплуатации, ремонта и утилизации изделий.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23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442" y="397598"/>
            <a:ext cx="4231858" cy="1222972"/>
          </a:xfrm>
        </p:spPr>
        <p:txBody>
          <a:bodyPr/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интегральной схемы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289712" y="1502875"/>
            <a:ext cx="7070755" cy="4516925"/>
          </a:xfrm>
        </p:spPr>
        <p:txBody>
          <a:bodyPr>
            <a:no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Интегральная схема, которую также называют кристаллом, представляет собой миниатюрную электронную схему, вытравленную на поверхности кремниевого кристалла площадью около 10 мм</a:t>
            </a:r>
            <a:r>
              <a:rPr lang="ru-RU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интегральные схемы (ИС) появились в 1964 году. Сначала они использовались только в космической и военной технике. Сейчас же их можно обнаружить где угодно, включая автомобили и бытовые приборы.</a:t>
            </a:r>
          </a:p>
          <a:p>
            <a:pPr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Связывание команд и данных с адресами в памяти может выполняться во время компиляции, во время загрузки или во время выполнения. Пользовательская программа проходит следующие фазы обработки: из исходного кода – компиляция в объектный модуль, затем – генерация из нескольких объектных модулей загрузочного модуля (редактором связей); генерация из загрузочного модуля и библиотек загрузчиком двоичного образа программы в памяти (линковка).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05" y="1620570"/>
            <a:ext cx="3151550" cy="25212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01" y="4636120"/>
            <a:ext cx="2246599" cy="195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8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6478" y="506240"/>
            <a:ext cx="8825659" cy="1981200"/>
          </a:xfrm>
        </p:spPr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структуры накопителя: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53085" y="1982708"/>
            <a:ext cx="11380206" cy="4291343"/>
          </a:xfrm>
        </p:spPr>
        <p:txBody>
          <a:bodyPr>
            <a:normAutofit/>
          </a:bodyPr>
          <a:lstStyle/>
          <a:p>
            <a:pPr lvl="0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Твердотельный накопитель позволяет работать с файлами более эффективно и на более высоких скоростях, чем классические жёсткие диски, тем самым повышая отзывчивость системы и скорость выполнения операций. Разница в скорости работы может достигать нескольких раз. Это касается не только загрузки системы, но и работы с фото, видео и графикой, а также времени загрузки в играх.</a:t>
            </a:r>
          </a:p>
          <a:p>
            <a:pPr lvl="0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и любая другая электроника, SSD не застрахованы от отказов. Но, по сравнению с классическими жёсткими дисками, твердотельные накопители намного надежнее. Они проще устроены, не обладают движущимися механическими компонентами и более устойчивы к физическим нагрузкам (например, к ударам и падениям).</a:t>
            </a:r>
          </a:p>
          <a:p>
            <a:pPr lvl="0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твердотельные накопители легки, компактны и просты в установке. С их помощью можно повысить отзывчивость и скорость работы устаревшей системы путем замены жёсткого диска. Или же просто добавить SSD в систему как дополнительный накопитель.</a:t>
            </a:r>
          </a:p>
          <a:p>
            <a:pPr lvl="0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 не ограничены одним сценарием использования. Помимо функции накопителя, они могут работать в качестве кэша вашего жёсткого диска, тем самым ускоряя работу наиболее часто используемых программ и файлов.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9" r="6719" b="2614"/>
          <a:stretch/>
        </p:blipFill>
        <p:spPr>
          <a:xfrm>
            <a:off x="7967051" y="597528"/>
            <a:ext cx="1548142" cy="13489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3124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53910" y="316872"/>
            <a:ext cx="8573631" cy="5558828"/>
          </a:xfrm>
        </p:spPr>
        <p:txBody>
          <a:bodyPr>
            <a:normAutofit/>
          </a:bodyPr>
          <a:lstStyle/>
          <a:p>
            <a:r>
              <a:rPr lang="ru-RU" b="1" i="1" dirty="0"/>
              <a:t>Информационная емкость ЗУ</a:t>
            </a:r>
            <a:r>
              <a:rPr lang="ru-RU" dirty="0"/>
              <a:t> на приборах ЦМД-типа наращивается небольшими секциями, например по 92 или 250 Кбит, благодаря чему всегда можно приобрести память нужной емкости, а не с большим запасом, как это может случиться при использовании кассетных или дисковых магнитных ЗУ. Перечисленные преимущества в первую очередь обусловлены отсутствием механических элементов в конструкции таких ЗУ на ЦМД.</a:t>
            </a:r>
          </a:p>
          <a:p>
            <a:r>
              <a:rPr lang="ru-RU" b="1" dirty="0"/>
              <a:t>Запоминающие устройства</a:t>
            </a:r>
            <a:r>
              <a:rPr lang="ru-RU" dirty="0"/>
              <a:t> на ЦМД используются в качестве внешних ЗУ. Емкость таких ЗУ в настоящее время достигает более 1 Мбит (К1602РУ2А). ЗУ на ЦМД энергонезависимы и позволяют хранить до 10</a:t>
            </a:r>
            <a:r>
              <a:rPr lang="ru-RU" baseline="30000" dirty="0"/>
              <a:t>7</a:t>
            </a:r>
            <a:r>
              <a:rPr lang="ru-RU" dirty="0"/>
              <a:t> бит информации на площади в 1 см</a:t>
            </a:r>
            <a:r>
              <a:rPr lang="ru-RU" baseline="30000" dirty="0"/>
              <a:t>2</a:t>
            </a:r>
            <a:r>
              <a:rPr lang="ru-RU" dirty="0"/>
              <a:t> при малой потребляемой мощности.</a:t>
            </a:r>
          </a:p>
          <a:p>
            <a:r>
              <a:rPr lang="ru-RU" dirty="0"/>
              <a:t>Для функционирования ЗУ на ЦМД необходимы устройства сопряжения: формирователи импульсов токов точной амплитуды и длительности, управляемые от стандартных ТТЛ-схем; усилитель считывания; блоки управления и синхронизации. ЗУ на ЦМД имеют малые размеры, а следовательно, их можно размещать на плате совместно с МП.</a:t>
            </a:r>
            <a:r>
              <a:rPr lang="ru-RU" b="1" dirty="0"/>
              <a:t> </a:t>
            </a:r>
            <a:endParaRPr lang="ru-RU" dirty="0"/>
          </a:p>
        </p:txBody>
      </p:sp>
      <p:pic>
        <p:nvPicPr>
          <p:cNvPr id="7" name="Рисунок 6" descr="https://studfile.net/html/2706/1004/html_4ddsiaPJ2x.MB2w/img-Wtz2Qy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264" y="3005751"/>
            <a:ext cx="3809166" cy="24082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663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998" y="307064"/>
            <a:ext cx="8825659" cy="1981200"/>
          </a:xfrm>
        </p:spPr>
        <p:txBody>
          <a:bodyPr/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Базовый микропроцессорный комплекс ЭСПУ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67304" y="530759"/>
            <a:ext cx="10822780" cy="3905439"/>
          </a:xfrm>
        </p:spPr>
        <p:txBody>
          <a:bodyPr>
            <a:normAutofit/>
          </a:bodyPr>
          <a:lstStyle/>
          <a:p>
            <a:r>
              <a:rPr lang="ru-RU" dirty="0"/>
              <a:t>  АЛУ выполнен на двух БИС:</a:t>
            </a:r>
          </a:p>
          <a:p>
            <a:pPr lvl="0"/>
            <a:r>
              <a:rPr lang="ru-RU" dirty="0"/>
              <a:t>БИС управляющей памяти микропрограмм выполнения команд программ;</a:t>
            </a:r>
          </a:p>
          <a:p>
            <a:pPr lvl="0"/>
            <a:r>
              <a:rPr lang="ru-RU" dirty="0"/>
              <a:t>БИС арифметического устройства, содержащего автономную схему управления, комбинационное АЛУ, регистровую память (разрядность регистров и АЛУ – 16 бит).</a:t>
            </a:r>
          </a:p>
          <a:p>
            <a:r>
              <a:rPr lang="ru-RU" dirty="0"/>
              <a:t>БИС управляющей памяти по функциям представляет постоянную память микропрограмм выполнения отдельных команд. БИС АУ и БИС УП имеют каждая в своем составе автономную схему управления. Такое построение БИС позволяет исключить из процессора и из ЧПУ централизованный синхронизирующий генератор.</a:t>
            </a:r>
          </a:p>
          <a:p>
            <a:r>
              <a:rPr lang="ru-RU" dirty="0"/>
              <a:t>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17" y="3753793"/>
            <a:ext cx="5329472" cy="310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05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1408</Words>
  <Application>Microsoft Office PowerPoint</Application>
  <PresentationFormat>Широкоэкранный</PresentationFormat>
  <Paragraphs>67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Ион</vt:lpstr>
      <vt:lpstr>Общие сведения о цифровых интегральных схемах малой и средней степени интеграции. Большие интегральные схемы </vt:lpstr>
      <vt:lpstr>Цифровые интегральные микросхемы наиболее распространенных серий малой и средней степени интеграции в ЭСПУ </vt:lpstr>
      <vt:lpstr>ЦИМС классифицируются по следующим признакам:  </vt:lpstr>
      <vt:lpstr>3. По степени интеграции:       • малые ИМС – до 10 элементов (МИС);        • средние ИМС – от 10 до 100 элементов (СИС);        • большие ИМС– от 100 до 105 элементов (БИС);        • сверхбольшие ИМС – 105 и более элементов (СБИС). 4. В зависимости от технологии изготовления ИМС бывают: • ПОЛУПРОВОДНИКОВЫЕ - все элементы и межэлементные соединения выполнены на одном полупроводниковом кристалле (например, кремния, германия, арсенида галлия, оксид гафния);  • ПЛЕНОЧНЫЕ - все элементы и межэлементные соединения выполнены в виде плёнок;   • ГИБРИДНЫЕ - кроме полупроводникового кристалла содержит несколько бескорпусных диодов, транзисторов и(или) других электронных компонентов, помещённых в один корпус;  • СМЕШАННЫЕ - кроме полупроводникового кристалла содержит тонкоплёночные (толстоплёночные) пассивные элементы, размещённые на поверхности кристалла.   </vt:lpstr>
      <vt:lpstr>Параметры ЦИМС: </vt:lpstr>
      <vt:lpstr>БИС памяти </vt:lpstr>
      <vt:lpstr>Для общей характеристик БИС памяти принимают в расчёт прежде всего: информационную емкость, быстродействие, энергопотребление.  </vt:lpstr>
      <vt:lpstr>Пример интегральной схемы </vt:lpstr>
      <vt:lpstr>Особенности структуры накопителя: </vt:lpstr>
      <vt:lpstr>Презентация PowerPoint</vt:lpstr>
      <vt:lpstr>Базовый микропроцессорный комплекс ЭСПУ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Общие сведения о цифровых интегральных схемах малой и средней степени интеграции. Большие интегральные схемы  Выполнил: Примак М.В  ТО-439</dc:title>
  <dc:creator>Admin</dc:creator>
  <cp:lastModifiedBy>User</cp:lastModifiedBy>
  <cp:revision>7</cp:revision>
  <dcterms:created xsi:type="dcterms:W3CDTF">2022-12-18T19:33:37Z</dcterms:created>
  <dcterms:modified xsi:type="dcterms:W3CDTF">2024-02-12T15:47:18Z</dcterms:modified>
</cp:coreProperties>
</file>