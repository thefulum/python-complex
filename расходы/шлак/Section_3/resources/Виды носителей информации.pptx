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rels" ContentType="application/vnd.openxmlformats-package.relationships+xml"/>
  <Default Extension="vml" ContentType="application/vnd.openxmlformats-officedocument.vmlDrawing"/>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0"/>
  </p:notesMasterIdLst>
  <p:handoutMasterIdLst>
    <p:handoutMasterId r:id="rId21"/>
  </p:handoutMasterIdLst>
  <p:sldIdLst>
    <p:sldId id="256" r:id="rId2"/>
    <p:sldId id="257" r:id="rId3"/>
    <p:sldId id="272" r:id="rId4"/>
    <p:sldId id="258" r:id="rId5"/>
    <p:sldId id="259" r:id="rId6"/>
    <p:sldId id="273" r:id="rId7"/>
    <p:sldId id="260" r:id="rId8"/>
    <p:sldId id="274" r:id="rId9"/>
    <p:sldId id="275" r:id="rId10"/>
    <p:sldId id="262" r:id="rId11"/>
    <p:sldId id="276" r:id="rId12"/>
    <p:sldId id="277" r:id="rId13"/>
    <p:sldId id="261" r:id="rId14"/>
    <p:sldId id="263" r:id="rId15"/>
    <p:sldId id="264" r:id="rId16"/>
    <p:sldId id="278" r:id="rId17"/>
    <p:sldId id="279" r:id="rId18"/>
    <p:sldId id="271" r:id="rId19"/>
  </p:sldIdLst>
  <p:sldSz cx="9144000" cy="6858000" type="screen4x3"/>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51" d="100"/>
          <a:sy n="51" d="100"/>
        </p:scale>
        <p:origin x="1387" y="38"/>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handoutMaster" Target="handoutMasters/handout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a:pPr>
            <a:r>
              <a:rPr lang="ru-RU" dirty="0"/>
              <a:t>Соотношение качества первичной памяти</a:t>
            </a:r>
          </a:p>
        </c:rich>
      </c:tx>
      <c:overlay val="0"/>
    </c:title>
    <c:autoTitleDeleted val="0"/>
    <c:view3D>
      <c:rotX val="30"/>
      <c:rotY val="0"/>
      <c:rAngAx val="0"/>
    </c:view3D>
    <c:floor>
      <c:thickness val="0"/>
    </c:floor>
    <c:sideWall>
      <c:thickness val="0"/>
    </c:sideWall>
    <c:backWall>
      <c:thickness val="0"/>
    </c:backWall>
    <c:plotArea>
      <c:layout/>
      <c:pie3DChart>
        <c:varyColors val="1"/>
        <c:ser>
          <c:idx val="0"/>
          <c:order val="0"/>
          <c:tx>
            <c:strRef>
              <c:f>Лист1!$B$1</c:f>
              <c:strCache>
                <c:ptCount val="1"/>
                <c:pt idx="0">
                  <c:v>Первичная память</c:v>
                </c:pt>
              </c:strCache>
            </c:strRef>
          </c:tx>
          <c:dLbls>
            <c:spPr>
              <a:noFill/>
              <a:ln>
                <a:noFill/>
              </a:ln>
              <a:effectLst/>
            </c:spPr>
            <c:showLegendKey val="0"/>
            <c:showVal val="0"/>
            <c:showCatName val="0"/>
            <c:showSerName val="0"/>
            <c:showPercent val="1"/>
            <c:showBubbleSize val="0"/>
            <c:showLeaderLines val="1"/>
            <c:extLst>
              <c:ext xmlns:c15="http://schemas.microsoft.com/office/drawing/2012/chart" uri="{CE6537A1-D6FC-4f65-9D91-7224C49458BB}"/>
            </c:extLst>
          </c:dLbls>
          <c:cat>
            <c:strRef>
              <c:f>Лист1!$A$2:$A$5</c:f>
              <c:strCache>
                <c:ptCount val="4"/>
                <c:pt idx="0">
                  <c:v>Отлично</c:v>
                </c:pt>
                <c:pt idx="1">
                  <c:v>Хорошо</c:v>
                </c:pt>
                <c:pt idx="2">
                  <c:v>Слабо</c:v>
                </c:pt>
                <c:pt idx="3">
                  <c:v>Неприемлимо</c:v>
                </c:pt>
              </c:strCache>
            </c:strRef>
          </c:cat>
          <c:val>
            <c:numRef>
              <c:f>Лист1!$B$2:$B$5</c:f>
              <c:numCache>
                <c:formatCode>General</c:formatCode>
                <c:ptCount val="4"/>
                <c:pt idx="0">
                  <c:v>1</c:v>
                </c:pt>
                <c:pt idx="1">
                  <c:v>1</c:v>
                </c:pt>
                <c:pt idx="2">
                  <c:v>3</c:v>
                </c:pt>
                <c:pt idx="3">
                  <c:v>4</c:v>
                </c:pt>
              </c:numCache>
            </c:numRef>
          </c:val>
          <c:extLst>
            <c:ext xmlns:c16="http://schemas.microsoft.com/office/drawing/2014/chart" uri="{C3380CC4-5D6E-409C-BE32-E72D297353CC}">
              <c16:uniqueId val="{00000000-06A7-4BED-A0BD-1B01D77471A6}"/>
            </c:ext>
          </c:extLst>
        </c:ser>
        <c:dLbls>
          <c:showLegendKey val="0"/>
          <c:showVal val="0"/>
          <c:showCatName val="0"/>
          <c:showSerName val="0"/>
          <c:showPercent val="1"/>
          <c:showBubbleSize val="0"/>
          <c:showLeaderLines val="1"/>
        </c:dLbls>
      </c:pie3DChart>
    </c:plotArea>
    <c:legend>
      <c:legendPos val="t"/>
      <c:overlay val="0"/>
    </c:legend>
    <c:plotVisOnly val="1"/>
    <c:dispBlanksAs val="gap"/>
    <c:showDLblsOverMax val="0"/>
  </c:chart>
  <c:txPr>
    <a:bodyPr/>
    <a:lstStyle/>
    <a:p>
      <a:pPr>
        <a:defRPr sz="1800"/>
      </a:pPr>
      <a:endParaRPr lang="ru-BY"/>
    </a:p>
  </c:txPr>
  <c:externalData r:id="rId1">
    <c:autoUpdate val="0"/>
  </c:externalData>
</c:chartSpace>
</file>

<file path=ppt/drawings/_rels/vmlDrawing1.vml.rels><?xml version="1.0" encoding="UTF-8" standalone="yes"?>
<Relationships xmlns="http://schemas.openxmlformats.org/package/2006/relationships"><Relationship Id="rId1" Type="http://schemas.openxmlformats.org/officeDocument/2006/relationships/image" Target="../media/image14.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r>
              <a:rPr lang="ru-RU"/>
              <a:t>Виды носителей информации</a:t>
            </a:r>
          </a:p>
        </p:txBody>
      </p:sp>
      <p:sp>
        <p:nvSpPr>
          <p:cNvPr id="3" name="Дата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77A91DD1-BD25-4189-9E05-ECCAAC278EE5}" type="datetimeFigureOut">
              <a:rPr lang="ru-RU" smtClean="0"/>
              <a:pPr/>
              <a:t>12.02.2024</a:t>
            </a:fld>
            <a:endParaRPr lang="ru-RU"/>
          </a:p>
        </p:txBody>
      </p:sp>
      <p:sp>
        <p:nvSpPr>
          <p:cNvPr id="4" name="Нижний колонтитул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ru-RU"/>
          </a:p>
        </p:txBody>
      </p:sp>
      <p:sp>
        <p:nvSpPr>
          <p:cNvPr id="5" name="Номер слайда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2B269839-0642-4C5E-9C45-C70BE7A57A9B}" type="slidenum">
              <a:rPr lang="ru-RU" smtClean="0"/>
              <a:pPr/>
              <a:t>‹#›</a:t>
            </a:fld>
            <a:endParaRPr lang="ru-RU"/>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f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r>
              <a:rPr lang="ru-RU"/>
              <a:t>Виды носителей информации</a:t>
            </a:r>
          </a:p>
        </p:txBody>
      </p:sp>
      <p:sp>
        <p:nvSpPr>
          <p:cNvPr id="3" name="Дата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5E1ACC55-BF77-4E10-85E2-12028F4EED6A}" type="datetimeFigureOut">
              <a:rPr lang="ru-RU" smtClean="0"/>
              <a:pPr/>
              <a:t>12.02.2024</a:t>
            </a:fld>
            <a:endParaRPr lang="ru-RU"/>
          </a:p>
        </p:txBody>
      </p:sp>
      <p:sp>
        <p:nvSpPr>
          <p:cNvPr id="4" name="Образ слайда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ru-RU"/>
          </a:p>
        </p:txBody>
      </p:sp>
      <p:sp>
        <p:nvSpPr>
          <p:cNvPr id="5" name="Заметки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6" name="Нижний колонтитул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ru-RU"/>
          </a:p>
        </p:txBody>
      </p:sp>
      <p:sp>
        <p:nvSpPr>
          <p:cNvPr id="7" name="Номер слайда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DC060FD0-60B0-4F24-A31E-002ACCB7CBEC}" type="slidenum">
              <a:rPr lang="ru-RU" smtClean="0"/>
              <a:pPr/>
              <a:t>‹#›</a:t>
            </a:fld>
            <a:endParaRPr lang="ru-RU"/>
          </a:p>
        </p:txBody>
      </p:sp>
    </p:spTree>
  </p:cSld>
  <p:clrMap bg1="lt1" tx1="dk1" bg2="lt2" tx2="dk2" accent1="accent1" accent2="accent2" accent3="accent3" accent4="accent4" accent5="accent5" accent6="accent6" hlink="hlink" folHlink="folHlink"/>
  <p:hf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normAutofit/>
          </a:bodyPr>
          <a:lstStyle/>
          <a:p>
            <a:endParaRPr lang="ru-RU" dirty="0"/>
          </a:p>
        </p:txBody>
      </p:sp>
      <p:sp>
        <p:nvSpPr>
          <p:cNvPr id="4" name="Номер слайда 3"/>
          <p:cNvSpPr>
            <a:spLocks noGrp="1"/>
          </p:cNvSpPr>
          <p:nvPr>
            <p:ph type="sldNum" sz="quarter" idx="10"/>
          </p:nvPr>
        </p:nvSpPr>
        <p:spPr/>
        <p:txBody>
          <a:bodyPr/>
          <a:lstStyle/>
          <a:p>
            <a:fld id="{DC060FD0-60B0-4F24-A31E-002ACCB7CBEC}" type="slidenum">
              <a:rPr lang="ru-RU" smtClean="0"/>
              <a:pPr/>
              <a:t>1</a:t>
            </a:fld>
            <a:endParaRPr lang="ru-RU"/>
          </a:p>
        </p:txBody>
      </p:sp>
      <p:sp>
        <p:nvSpPr>
          <p:cNvPr id="5" name="Верхний колонтитул 4"/>
          <p:cNvSpPr>
            <a:spLocks noGrp="1"/>
          </p:cNvSpPr>
          <p:nvPr>
            <p:ph type="hdr" sz="quarter" idx="11"/>
          </p:nvPr>
        </p:nvSpPr>
        <p:spPr/>
        <p:txBody>
          <a:bodyPr/>
          <a:lstStyle/>
          <a:p>
            <a:r>
              <a:rPr lang="ru-RU"/>
              <a:t>Виды носителей информации</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normAutofit/>
          </a:bodyPr>
          <a:lstStyle/>
          <a:p>
            <a:endParaRPr lang="ru-RU" dirty="0"/>
          </a:p>
        </p:txBody>
      </p:sp>
      <p:sp>
        <p:nvSpPr>
          <p:cNvPr id="4" name="Номер слайда 3"/>
          <p:cNvSpPr>
            <a:spLocks noGrp="1"/>
          </p:cNvSpPr>
          <p:nvPr>
            <p:ph type="sldNum" sz="quarter" idx="10"/>
          </p:nvPr>
        </p:nvSpPr>
        <p:spPr/>
        <p:txBody>
          <a:bodyPr/>
          <a:lstStyle/>
          <a:p>
            <a:fld id="{DC060FD0-60B0-4F24-A31E-002ACCB7CBEC}" type="slidenum">
              <a:rPr lang="ru-RU" smtClean="0"/>
              <a:pPr/>
              <a:t>18</a:t>
            </a:fld>
            <a:endParaRPr lang="ru-RU"/>
          </a:p>
        </p:txBody>
      </p:sp>
      <p:sp>
        <p:nvSpPr>
          <p:cNvPr id="5" name="Верхний колонтитул 4"/>
          <p:cNvSpPr>
            <a:spLocks noGrp="1"/>
          </p:cNvSpPr>
          <p:nvPr>
            <p:ph type="hdr" sz="quarter" idx="11"/>
          </p:nvPr>
        </p:nvSpPr>
        <p:spPr/>
        <p:txBody>
          <a:bodyPr/>
          <a:lstStyle/>
          <a:p>
            <a:r>
              <a:rPr lang="ru-RU"/>
              <a:t>Виды носителей информации</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Титульный слайд">
    <p:spTree>
      <p:nvGrpSpPr>
        <p:cNvPr id="1" name=""/>
        <p:cNvGrpSpPr/>
        <p:nvPr/>
      </p:nvGrpSpPr>
      <p:grpSpPr>
        <a:xfrm>
          <a:off x="0" y="0"/>
          <a:ext cx="0" cy="0"/>
          <a:chOff x="0" y="0"/>
          <a:chExt cx="0" cy="0"/>
        </a:xfrm>
      </p:grpSpPr>
      <p:sp>
        <p:nvSpPr>
          <p:cNvPr id="2" name="Заголовок 1"/>
          <p:cNvSpPr>
            <a:spLocks noGrp="1"/>
          </p:cNvSpPr>
          <p:nvPr>
            <p:ph type="ctrTitle"/>
          </p:nvPr>
        </p:nvSpPr>
        <p:spPr>
          <a:xfrm>
            <a:off x="685800" y="2130425"/>
            <a:ext cx="7772400" cy="1470025"/>
          </a:xfrm>
        </p:spPr>
        <p:txBody>
          <a:bodyPr/>
          <a:lstStyle/>
          <a:p>
            <a:r>
              <a:rPr lang="ru-RU"/>
              <a:t>Образец заголовка</a:t>
            </a:r>
          </a:p>
        </p:txBody>
      </p:sp>
      <p:sp>
        <p:nvSpPr>
          <p:cNvPr id="3" name="Подзаголовок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ru-RU"/>
              <a:t>Образец подзаголовка</a:t>
            </a:r>
          </a:p>
        </p:txBody>
      </p:sp>
      <p:sp>
        <p:nvSpPr>
          <p:cNvPr id="8" name="Содержимое 7"/>
          <p:cNvSpPr>
            <a:spLocks noGrp="1"/>
          </p:cNvSpPr>
          <p:nvPr>
            <p:ph sz="quarter" idx="13"/>
          </p:nvPr>
        </p:nvSpPr>
        <p:spPr>
          <a:xfrm>
            <a:off x="1403648" y="548680"/>
            <a:ext cx="6768752" cy="4824536"/>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11" name="Дата 10"/>
          <p:cNvSpPr>
            <a:spLocks noGrp="1"/>
          </p:cNvSpPr>
          <p:nvPr>
            <p:ph type="dt" sz="half" idx="14"/>
          </p:nvPr>
        </p:nvSpPr>
        <p:spPr/>
        <p:txBody>
          <a:bodyPr/>
          <a:lstStyle/>
          <a:p>
            <a:fld id="{303DB680-E089-4F57-8C84-7CEEA8D308C8}" type="datetimeFigureOut">
              <a:rPr lang="ru-RU" smtClean="0"/>
              <a:pPr/>
              <a:t>12.02.2024</a:t>
            </a:fld>
            <a:endParaRPr lang="ru-RU"/>
          </a:p>
        </p:txBody>
      </p:sp>
      <p:sp>
        <p:nvSpPr>
          <p:cNvPr id="12" name="Номер слайда 11"/>
          <p:cNvSpPr>
            <a:spLocks noGrp="1"/>
          </p:cNvSpPr>
          <p:nvPr>
            <p:ph type="sldNum" sz="quarter" idx="15"/>
          </p:nvPr>
        </p:nvSpPr>
        <p:spPr/>
        <p:txBody>
          <a:bodyPr/>
          <a:lstStyle/>
          <a:p>
            <a:fld id="{3F957392-487A-4F4B-ADB0-5186350EDA48}" type="slidenum">
              <a:rPr lang="ru-RU" smtClean="0"/>
              <a:pPr/>
              <a:t>‹#›</a:t>
            </a:fld>
            <a:endParaRPr lang="ru-RU"/>
          </a:p>
        </p:txBody>
      </p:sp>
      <p:sp>
        <p:nvSpPr>
          <p:cNvPr id="13" name="Нижний колонтитул 12"/>
          <p:cNvSpPr>
            <a:spLocks noGrp="1"/>
          </p:cNvSpPr>
          <p:nvPr>
            <p:ph type="ftr" sz="quarter" idx="16"/>
          </p:nvPr>
        </p:nvSpPr>
        <p:spPr/>
        <p:txBody>
          <a:bodyPr/>
          <a:lstStyle/>
          <a:p>
            <a:endParaRPr lang="ru-RU"/>
          </a:p>
        </p:txBody>
      </p:sp>
    </p:spTree>
  </p:cSld>
  <p:clrMapOvr>
    <a:masterClrMapping/>
  </p:clrMapOvr>
  <p:transition>
    <p:cover dir="d"/>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a:t>Образец заголовка</a:t>
            </a:r>
          </a:p>
        </p:txBody>
      </p:sp>
      <p:sp>
        <p:nvSpPr>
          <p:cNvPr id="3" name="Содержимое 2"/>
          <p:cNvSpPr>
            <a:spLocks noGrp="1"/>
          </p:cNvSpPr>
          <p:nvPr>
            <p:ph idx="1"/>
          </p:nvPr>
        </p:nvSpPr>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p:cNvSpPr>
            <a:spLocks noGrp="1"/>
          </p:cNvSpPr>
          <p:nvPr>
            <p:ph type="dt" sz="half" idx="10"/>
          </p:nvPr>
        </p:nvSpPr>
        <p:spPr/>
        <p:txBody>
          <a:bodyPr/>
          <a:lstStyle/>
          <a:p>
            <a:fld id="{303DB680-E089-4F57-8C84-7CEEA8D308C8}" type="datetimeFigureOut">
              <a:rPr lang="ru-RU" smtClean="0"/>
              <a:pPr/>
              <a:t>12.02.2024</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3F957392-487A-4F4B-ADB0-5186350EDA48}" type="slidenum">
              <a:rPr lang="ru-RU" smtClean="0"/>
              <a:pPr/>
              <a:t>‹#›</a:t>
            </a:fld>
            <a:endParaRPr lang="ru-RU"/>
          </a:p>
        </p:txBody>
      </p:sp>
    </p:spTree>
  </p:cSld>
  <p:clrMapOvr>
    <a:masterClrMapping/>
  </p:clrMapOvr>
  <p:transition>
    <p:cover dir="d"/>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722313" y="4406900"/>
            <a:ext cx="7772400" cy="1362075"/>
          </a:xfrm>
        </p:spPr>
        <p:txBody>
          <a:bodyPr anchor="t"/>
          <a:lstStyle>
            <a:lvl1pPr algn="l">
              <a:defRPr sz="4000" b="1" cap="all"/>
            </a:lvl1pPr>
          </a:lstStyle>
          <a:p>
            <a:r>
              <a:rPr lang="ru-RU"/>
              <a:t>Образец заголовка</a:t>
            </a:r>
          </a:p>
        </p:txBody>
      </p:sp>
      <p:sp>
        <p:nvSpPr>
          <p:cNvPr id="3" name="Текст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ru-RU"/>
              <a:t>Образец текста</a:t>
            </a:r>
          </a:p>
        </p:txBody>
      </p:sp>
      <p:sp>
        <p:nvSpPr>
          <p:cNvPr id="4" name="Дата 3"/>
          <p:cNvSpPr>
            <a:spLocks noGrp="1"/>
          </p:cNvSpPr>
          <p:nvPr>
            <p:ph type="dt" sz="half" idx="10"/>
          </p:nvPr>
        </p:nvSpPr>
        <p:spPr/>
        <p:txBody>
          <a:bodyPr/>
          <a:lstStyle/>
          <a:p>
            <a:fld id="{303DB680-E089-4F57-8C84-7CEEA8D308C8}" type="datetimeFigureOut">
              <a:rPr lang="ru-RU" smtClean="0"/>
              <a:pPr/>
              <a:t>12.02.2024</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3F957392-487A-4F4B-ADB0-5186350EDA48}" type="slidenum">
              <a:rPr lang="ru-RU" smtClean="0"/>
              <a:pPr/>
              <a:t>‹#›</a:t>
            </a:fld>
            <a:endParaRPr lang="ru-RU"/>
          </a:p>
        </p:txBody>
      </p:sp>
    </p:spTree>
  </p:cSld>
  <p:clrMapOvr>
    <a:masterClrMapping/>
  </p:clrMapOvr>
  <p:transition>
    <p:cover dir="d"/>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a:t>Образец заголовка</a:t>
            </a:r>
          </a:p>
        </p:txBody>
      </p:sp>
      <p:sp>
        <p:nvSpPr>
          <p:cNvPr id="3" name="Содержимое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Содержимое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5" name="Дата 4"/>
          <p:cNvSpPr>
            <a:spLocks noGrp="1"/>
          </p:cNvSpPr>
          <p:nvPr>
            <p:ph type="dt" sz="half" idx="10"/>
          </p:nvPr>
        </p:nvSpPr>
        <p:spPr/>
        <p:txBody>
          <a:bodyPr/>
          <a:lstStyle/>
          <a:p>
            <a:fld id="{303DB680-E089-4F57-8C84-7CEEA8D308C8}" type="datetimeFigureOut">
              <a:rPr lang="ru-RU" smtClean="0"/>
              <a:pPr/>
              <a:t>12.02.2024</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3F957392-487A-4F4B-ADB0-5186350EDA48}" type="slidenum">
              <a:rPr lang="ru-RU" smtClean="0"/>
              <a:pPr/>
              <a:t>‹#›</a:t>
            </a:fld>
            <a:endParaRPr lang="ru-RU"/>
          </a:p>
        </p:txBody>
      </p:sp>
    </p:spTree>
  </p:cSld>
  <p:clrMapOvr>
    <a:masterClrMapping/>
  </p:clrMapOvr>
  <p:transition>
    <p:cover dir="d"/>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lvl1pPr>
              <a:defRPr/>
            </a:lvl1pPr>
          </a:lstStyle>
          <a:p>
            <a:r>
              <a:rPr lang="ru-RU"/>
              <a:t>Образец заголовка</a:t>
            </a:r>
          </a:p>
        </p:txBody>
      </p:sp>
      <p:sp>
        <p:nvSpPr>
          <p:cNvPr id="3" name="Текст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4" name="Содержимое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5" name="Текст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6" name="Содержимое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7" name="Дата 6"/>
          <p:cNvSpPr>
            <a:spLocks noGrp="1"/>
          </p:cNvSpPr>
          <p:nvPr>
            <p:ph type="dt" sz="half" idx="10"/>
          </p:nvPr>
        </p:nvSpPr>
        <p:spPr/>
        <p:txBody>
          <a:bodyPr/>
          <a:lstStyle/>
          <a:p>
            <a:fld id="{303DB680-E089-4F57-8C84-7CEEA8D308C8}" type="datetimeFigureOut">
              <a:rPr lang="ru-RU" smtClean="0"/>
              <a:pPr/>
              <a:t>12.02.2024</a:t>
            </a:fld>
            <a:endParaRPr lang="ru-RU"/>
          </a:p>
        </p:txBody>
      </p:sp>
      <p:sp>
        <p:nvSpPr>
          <p:cNvPr id="8" name="Нижний колонтитул 7"/>
          <p:cNvSpPr>
            <a:spLocks noGrp="1"/>
          </p:cNvSpPr>
          <p:nvPr>
            <p:ph type="ftr" sz="quarter" idx="11"/>
          </p:nvPr>
        </p:nvSpPr>
        <p:spPr/>
        <p:txBody>
          <a:bodyPr/>
          <a:lstStyle/>
          <a:p>
            <a:endParaRPr lang="ru-RU"/>
          </a:p>
        </p:txBody>
      </p:sp>
      <p:sp>
        <p:nvSpPr>
          <p:cNvPr id="9" name="Номер слайда 8"/>
          <p:cNvSpPr>
            <a:spLocks noGrp="1"/>
          </p:cNvSpPr>
          <p:nvPr>
            <p:ph type="sldNum" sz="quarter" idx="12"/>
          </p:nvPr>
        </p:nvSpPr>
        <p:spPr/>
        <p:txBody>
          <a:bodyPr/>
          <a:lstStyle/>
          <a:p>
            <a:fld id="{3F957392-487A-4F4B-ADB0-5186350EDA48}" type="slidenum">
              <a:rPr lang="ru-RU" smtClean="0"/>
              <a:pPr/>
              <a:t>‹#›</a:t>
            </a:fld>
            <a:endParaRPr lang="ru-RU"/>
          </a:p>
        </p:txBody>
      </p:sp>
    </p:spTree>
  </p:cSld>
  <p:clrMapOvr>
    <a:masterClrMapping/>
  </p:clrMapOvr>
  <p:transition>
    <p:cover dir="d"/>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a:t>Образец заголовка</a:t>
            </a:r>
          </a:p>
        </p:txBody>
      </p:sp>
      <p:sp>
        <p:nvSpPr>
          <p:cNvPr id="3" name="Дата 2"/>
          <p:cNvSpPr>
            <a:spLocks noGrp="1"/>
          </p:cNvSpPr>
          <p:nvPr>
            <p:ph type="dt" sz="half" idx="10"/>
          </p:nvPr>
        </p:nvSpPr>
        <p:spPr/>
        <p:txBody>
          <a:bodyPr/>
          <a:lstStyle/>
          <a:p>
            <a:fld id="{303DB680-E089-4F57-8C84-7CEEA8D308C8}" type="datetimeFigureOut">
              <a:rPr lang="ru-RU" smtClean="0"/>
              <a:pPr/>
              <a:t>12.02.2024</a:t>
            </a:fld>
            <a:endParaRPr lang="ru-RU"/>
          </a:p>
        </p:txBody>
      </p:sp>
      <p:sp>
        <p:nvSpPr>
          <p:cNvPr id="4" name="Нижний колонтитул 3"/>
          <p:cNvSpPr>
            <a:spLocks noGrp="1"/>
          </p:cNvSpPr>
          <p:nvPr>
            <p:ph type="ftr" sz="quarter" idx="11"/>
          </p:nvPr>
        </p:nvSpPr>
        <p:spPr/>
        <p:txBody>
          <a:bodyPr/>
          <a:lstStyle/>
          <a:p>
            <a:endParaRPr lang="ru-RU"/>
          </a:p>
        </p:txBody>
      </p:sp>
      <p:sp>
        <p:nvSpPr>
          <p:cNvPr id="5" name="Номер слайда 4"/>
          <p:cNvSpPr>
            <a:spLocks noGrp="1"/>
          </p:cNvSpPr>
          <p:nvPr>
            <p:ph type="sldNum" sz="quarter" idx="12"/>
          </p:nvPr>
        </p:nvSpPr>
        <p:spPr/>
        <p:txBody>
          <a:bodyPr/>
          <a:lstStyle/>
          <a:p>
            <a:fld id="{3F957392-487A-4F4B-ADB0-5186350EDA48}" type="slidenum">
              <a:rPr lang="ru-RU" smtClean="0"/>
              <a:pPr/>
              <a:t>‹#›</a:t>
            </a:fld>
            <a:endParaRPr lang="ru-RU"/>
          </a:p>
        </p:txBody>
      </p:sp>
    </p:spTree>
  </p:cSld>
  <p:clrMapOvr>
    <a:masterClrMapping/>
  </p:clrMapOvr>
  <p:transition>
    <p:cover dir="d"/>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Дата 1"/>
          <p:cNvSpPr>
            <a:spLocks noGrp="1"/>
          </p:cNvSpPr>
          <p:nvPr>
            <p:ph type="dt" sz="half" idx="10"/>
          </p:nvPr>
        </p:nvSpPr>
        <p:spPr/>
        <p:txBody>
          <a:bodyPr/>
          <a:lstStyle/>
          <a:p>
            <a:fld id="{303DB680-E089-4F57-8C84-7CEEA8D308C8}" type="datetimeFigureOut">
              <a:rPr lang="ru-RU" smtClean="0"/>
              <a:pPr/>
              <a:t>12.02.2024</a:t>
            </a:fld>
            <a:endParaRPr lang="ru-RU"/>
          </a:p>
        </p:txBody>
      </p:sp>
      <p:sp>
        <p:nvSpPr>
          <p:cNvPr id="3" name="Нижний колонтитул 2"/>
          <p:cNvSpPr>
            <a:spLocks noGrp="1"/>
          </p:cNvSpPr>
          <p:nvPr>
            <p:ph type="ftr" sz="quarter" idx="11"/>
          </p:nvPr>
        </p:nvSpPr>
        <p:spPr/>
        <p:txBody>
          <a:bodyPr/>
          <a:lstStyle/>
          <a:p>
            <a:endParaRPr lang="ru-RU"/>
          </a:p>
        </p:txBody>
      </p:sp>
      <p:sp>
        <p:nvSpPr>
          <p:cNvPr id="4" name="Номер слайда 3"/>
          <p:cNvSpPr>
            <a:spLocks noGrp="1"/>
          </p:cNvSpPr>
          <p:nvPr>
            <p:ph type="sldNum" sz="quarter" idx="12"/>
          </p:nvPr>
        </p:nvSpPr>
        <p:spPr/>
        <p:txBody>
          <a:bodyPr/>
          <a:lstStyle/>
          <a:p>
            <a:fld id="{3F957392-487A-4F4B-ADB0-5186350EDA48}" type="slidenum">
              <a:rPr lang="ru-RU" smtClean="0"/>
              <a:pPr/>
              <a:t>‹#›</a:t>
            </a:fld>
            <a:endParaRPr lang="ru-RU"/>
          </a:p>
        </p:txBody>
      </p:sp>
    </p:spTree>
  </p:cSld>
  <p:clrMapOvr>
    <a:masterClrMapping/>
  </p:clrMapOvr>
  <p:transition>
    <p:cover dir="d"/>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273050"/>
            <a:ext cx="3008313" cy="1162050"/>
          </a:xfrm>
        </p:spPr>
        <p:txBody>
          <a:bodyPr anchor="b"/>
          <a:lstStyle>
            <a:lvl1pPr algn="l">
              <a:defRPr sz="2000" b="1"/>
            </a:lvl1pPr>
          </a:lstStyle>
          <a:p>
            <a:r>
              <a:rPr lang="ru-RU"/>
              <a:t>Образец заголовка</a:t>
            </a:r>
          </a:p>
        </p:txBody>
      </p:sp>
      <p:sp>
        <p:nvSpPr>
          <p:cNvPr id="3" name="Содержимое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Текст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a:t>Образец текста</a:t>
            </a:r>
          </a:p>
        </p:txBody>
      </p:sp>
      <p:sp>
        <p:nvSpPr>
          <p:cNvPr id="5" name="Дата 4"/>
          <p:cNvSpPr>
            <a:spLocks noGrp="1"/>
          </p:cNvSpPr>
          <p:nvPr>
            <p:ph type="dt" sz="half" idx="10"/>
          </p:nvPr>
        </p:nvSpPr>
        <p:spPr/>
        <p:txBody>
          <a:bodyPr/>
          <a:lstStyle/>
          <a:p>
            <a:fld id="{303DB680-E089-4F57-8C84-7CEEA8D308C8}" type="datetimeFigureOut">
              <a:rPr lang="ru-RU" smtClean="0"/>
              <a:pPr/>
              <a:t>12.02.2024</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3F957392-487A-4F4B-ADB0-5186350EDA48}" type="slidenum">
              <a:rPr lang="ru-RU" smtClean="0"/>
              <a:pPr/>
              <a:t>‹#›</a:t>
            </a:fld>
            <a:endParaRPr lang="ru-RU"/>
          </a:p>
        </p:txBody>
      </p:sp>
    </p:spTree>
  </p:cSld>
  <p:clrMapOvr>
    <a:masterClrMapping/>
  </p:clrMapOvr>
  <p:transition>
    <p:cover dir="d"/>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792288" y="4800600"/>
            <a:ext cx="5486400" cy="566738"/>
          </a:xfrm>
        </p:spPr>
        <p:txBody>
          <a:bodyPr anchor="b"/>
          <a:lstStyle>
            <a:lvl1pPr algn="l">
              <a:defRPr sz="2000" b="1"/>
            </a:lvl1pPr>
          </a:lstStyle>
          <a:p>
            <a:r>
              <a:rPr lang="ru-RU"/>
              <a:t>Образец заголовка</a:t>
            </a:r>
          </a:p>
        </p:txBody>
      </p:sp>
      <p:sp>
        <p:nvSpPr>
          <p:cNvPr id="3" name="Рисунок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ru-RU"/>
          </a:p>
        </p:txBody>
      </p:sp>
      <p:sp>
        <p:nvSpPr>
          <p:cNvPr id="4" name="Текст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a:t>Образец текста</a:t>
            </a:r>
          </a:p>
        </p:txBody>
      </p:sp>
      <p:sp>
        <p:nvSpPr>
          <p:cNvPr id="5" name="Дата 4"/>
          <p:cNvSpPr>
            <a:spLocks noGrp="1"/>
          </p:cNvSpPr>
          <p:nvPr>
            <p:ph type="dt" sz="half" idx="10"/>
          </p:nvPr>
        </p:nvSpPr>
        <p:spPr/>
        <p:txBody>
          <a:bodyPr/>
          <a:lstStyle/>
          <a:p>
            <a:fld id="{303DB680-E089-4F57-8C84-7CEEA8D308C8}" type="datetimeFigureOut">
              <a:rPr lang="ru-RU" smtClean="0"/>
              <a:pPr/>
              <a:t>12.02.2024</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3F957392-487A-4F4B-ADB0-5186350EDA48}" type="slidenum">
              <a:rPr lang="ru-RU" smtClean="0"/>
              <a:pPr/>
              <a:t>‹#›</a:t>
            </a:fld>
            <a:endParaRPr lang="ru-RU"/>
          </a:p>
        </p:txBody>
      </p:sp>
    </p:spTree>
  </p:cSld>
  <p:clrMapOvr>
    <a:masterClrMapping/>
  </p:clrMapOvr>
  <p:transition>
    <p:cover dir="d"/>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a:t>Образец заголовка</a:t>
            </a:r>
          </a:p>
        </p:txBody>
      </p:sp>
      <p:sp>
        <p:nvSpPr>
          <p:cNvPr id="3" name="Вертикальный текст 2"/>
          <p:cNvSpPr>
            <a:spLocks noGrp="1"/>
          </p:cNvSpPr>
          <p:nvPr>
            <p:ph type="body" orient="vert" idx="1"/>
          </p:nvPr>
        </p:nvSpPr>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p:cNvSpPr>
            <a:spLocks noGrp="1"/>
          </p:cNvSpPr>
          <p:nvPr>
            <p:ph type="dt" sz="half" idx="10"/>
          </p:nvPr>
        </p:nvSpPr>
        <p:spPr/>
        <p:txBody>
          <a:bodyPr/>
          <a:lstStyle/>
          <a:p>
            <a:fld id="{303DB680-E089-4F57-8C84-7CEEA8D308C8}" type="datetimeFigureOut">
              <a:rPr lang="ru-RU" smtClean="0"/>
              <a:pPr/>
              <a:t>12.02.2024</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3F957392-487A-4F4B-ADB0-5186350EDA48}" type="slidenum">
              <a:rPr lang="ru-RU" smtClean="0"/>
              <a:pPr/>
              <a:t>‹#›</a:t>
            </a:fld>
            <a:endParaRPr lang="ru-RU"/>
          </a:p>
        </p:txBody>
      </p:sp>
    </p:spTree>
  </p:cSld>
  <p:clrMapOvr>
    <a:masterClrMapping/>
  </p:clrMapOvr>
  <p:transition>
    <p:cover dir="d"/>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Вертикальный заголовок 1"/>
          <p:cNvSpPr>
            <a:spLocks noGrp="1"/>
          </p:cNvSpPr>
          <p:nvPr>
            <p:ph type="title" orient="vert"/>
          </p:nvPr>
        </p:nvSpPr>
        <p:spPr>
          <a:xfrm>
            <a:off x="6629400" y="274638"/>
            <a:ext cx="2057400" cy="5851525"/>
          </a:xfrm>
        </p:spPr>
        <p:txBody>
          <a:bodyPr vert="eaVert"/>
          <a:lstStyle/>
          <a:p>
            <a:r>
              <a:rPr lang="ru-RU"/>
              <a:t>Образец заголовка</a:t>
            </a:r>
          </a:p>
        </p:txBody>
      </p:sp>
      <p:sp>
        <p:nvSpPr>
          <p:cNvPr id="3" name="Вертикальный текст 2"/>
          <p:cNvSpPr>
            <a:spLocks noGrp="1"/>
          </p:cNvSpPr>
          <p:nvPr>
            <p:ph type="body" orient="vert" idx="1"/>
          </p:nvPr>
        </p:nvSpPr>
        <p:spPr>
          <a:xfrm>
            <a:off x="457200" y="274638"/>
            <a:ext cx="6019800" cy="5851525"/>
          </a:xfrm>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p:cNvSpPr>
            <a:spLocks noGrp="1"/>
          </p:cNvSpPr>
          <p:nvPr>
            <p:ph type="dt" sz="half" idx="10"/>
          </p:nvPr>
        </p:nvSpPr>
        <p:spPr/>
        <p:txBody>
          <a:bodyPr/>
          <a:lstStyle/>
          <a:p>
            <a:fld id="{303DB680-E089-4F57-8C84-7CEEA8D308C8}" type="datetimeFigureOut">
              <a:rPr lang="ru-RU" smtClean="0"/>
              <a:pPr/>
              <a:t>12.02.2024</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3F957392-487A-4F4B-ADB0-5186350EDA48}" type="slidenum">
              <a:rPr lang="ru-RU" smtClean="0"/>
              <a:pPr/>
              <a:t>‹#›</a:t>
            </a:fld>
            <a:endParaRPr lang="ru-RU"/>
          </a:p>
        </p:txBody>
      </p:sp>
    </p:spTree>
  </p:cSld>
  <p:clrMapOvr>
    <a:masterClrMapping/>
  </p:clrMapOvr>
  <p:transition>
    <p:cover dir="d"/>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cstate="print">
            <a:alphaModFix amt="25000"/>
            <a:lum/>
          </a:blip>
          <a:srcRect/>
          <a:stretch>
            <a:fillRect t="-25000" b="-25000"/>
          </a:stretch>
        </a:blipFill>
        <a:effectLst/>
      </p:bgPr>
    </p:bg>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ru-RU"/>
              <a:t>Образец заголовка</a:t>
            </a:r>
          </a:p>
        </p:txBody>
      </p:sp>
      <p:sp>
        <p:nvSpPr>
          <p:cNvPr id="3" name="Текст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03DB680-E089-4F57-8C84-7CEEA8D308C8}" type="datetimeFigureOut">
              <a:rPr lang="ru-RU" smtClean="0"/>
              <a:pPr/>
              <a:t>12.02.2024</a:t>
            </a:fld>
            <a:endParaRPr lang="ru-RU"/>
          </a:p>
        </p:txBody>
      </p:sp>
      <p:sp>
        <p:nvSpPr>
          <p:cNvPr id="5" name="Нижний колонтитул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ru-RU"/>
          </a:p>
        </p:txBody>
      </p:sp>
      <p:sp>
        <p:nvSpPr>
          <p:cNvPr id="6" name="Номер слайда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F957392-487A-4F4B-ADB0-5186350EDA48}" type="slidenum">
              <a:rPr lang="ru-RU" smtClean="0"/>
              <a:pPr/>
              <a:t>‹#›</a:t>
            </a:fld>
            <a:endParaRPr lang="ru-RU"/>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p:cover dir="d"/>
  </p:transition>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1.jpeg"/><Relationship Id="rId1" Type="http://schemas.openxmlformats.org/officeDocument/2006/relationships/slideLayout" Target="../slideLayouts/slideLayout2.xml"/><Relationship Id="rId4" Type="http://schemas.openxmlformats.org/officeDocument/2006/relationships/image" Target="../media/image13.jpe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image" Target="../media/image14.emf"/></Relationships>
</file>

<file path=ppt/slides/_rels/slide17.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cstate="print">
            <a:lum/>
          </a:blip>
          <a:srcRect/>
          <a:stretch>
            <a:fillRect t="-10000" b="-10000"/>
          </a:stretch>
        </a:blipFill>
        <a:effectLst/>
      </p:bgPr>
    </p:bg>
    <p:spTree>
      <p:nvGrpSpPr>
        <p:cNvPr id="1" name=""/>
        <p:cNvGrpSpPr/>
        <p:nvPr/>
      </p:nvGrpSpPr>
      <p:grpSpPr>
        <a:xfrm>
          <a:off x="0" y="0"/>
          <a:ext cx="0" cy="0"/>
          <a:chOff x="0" y="0"/>
          <a:chExt cx="0" cy="0"/>
        </a:xfrm>
      </p:grpSpPr>
      <p:sp>
        <p:nvSpPr>
          <p:cNvPr id="4" name="Прямоугольник 3"/>
          <p:cNvSpPr/>
          <p:nvPr/>
        </p:nvSpPr>
        <p:spPr>
          <a:xfrm>
            <a:off x="0" y="476672"/>
            <a:ext cx="8820472" cy="1754326"/>
          </a:xfrm>
          <a:prstGeom prst="rect">
            <a:avLst/>
          </a:prstGeom>
          <a:noFill/>
        </p:spPr>
        <p:txBody>
          <a:bodyPr wrap="square" lIns="91440" tIns="45720" rIns="91440" bIns="45720">
            <a:spAutoFit/>
          </a:bodyPr>
          <a:lstStyle/>
          <a:p>
            <a:pPr algn="ctr"/>
            <a:r>
              <a:rPr lang="ru-RU" sz="5400" b="1" i="1" cap="none" spc="0" dirty="0">
                <a:ln w="31550" cmpd="sng">
                  <a:gradFill>
                    <a:gsLst>
                      <a:gs pos="25000">
                        <a:schemeClr val="accent1">
                          <a:shade val="25000"/>
                          <a:satMod val="190000"/>
                        </a:schemeClr>
                      </a:gs>
                      <a:gs pos="80000">
                        <a:schemeClr val="accent1">
                          <a:tint val="75000"/>
                          <a:satMod val="190000"/>
                        </a:schemeClr>
                      </a:gs>
                    </a:gsLst>
                    <a:lin ang="5400000"/>
                  </a:gradFill>
                  <a:prstDash val="solid"/>
                </a:ln>
                <a:solidFill>
                  <a:srgbClr val="FFFFFF"/>
                </a:solidFill>
                <a:effectLst>
                  <a:glow rad="101600">
                    <a:schemeClr val="accent1">
                      <a:satMod val="175000"/>
                      <a:alpha val="40000"/>
                    </a:schemeClr>
                  </a:glow>
                  <a:outerShdw blurRad="50800" dist="38100" dir="2700000" algn="tl" rotWithShape="0">
                    <a:prstClr val="black">
                      <a:alpha val="40000"/>
                    </a:prstClr>
                  </a:outerShdw>
                  <a:reflection blurRad="6350" stA="55000" endA="300" endPos="45500" dir="5400000" sy="-100000" algn="bl" rotWithShape="0"/>
                </a:effectLst>
              </a:rPr>
              <a:t>Виды носителей информации</a:t>
            </a:r>
            <a:endParaRPr lang="ru-RU" sz="5400" b="1" cap="none" spc="0" dirty="0">
              <a:ln w="31550" cmpd="sng">
                <a:gradFill>
                  <a:gsLst>
                    <a:gs pos="25000">
                      <a:schemeClr val="accent1">
                        <a:shade val="25000"/>
                        <a:satMod val="190000"/>
                      </a:schemeClr>
                    </a:gs>
                    <a:gs pos="80000">
                      <a:schemeClr val="accent1">
                        <a:tint val="75000"/>
                        <a:satMod val="190000"/>
                      </a:schemeClr>
                    </a:gs>
                  </a:gsLst>
                  <a:lin ang="5400000"/>
                </a:gradFill>
                <a:prstDash val="solid"/>
              </a:ln>
              <a:solidFill>
                <a:srgbClr val="FFFFFF"/>
              </a:solidFill>
              <a:effectLst>
                <a:glow rad="101600">
                  <a:schemeClr val="accent1">
                    <a:satMod val="175000"/>
                    <a:alpha val="40000"/>
                  </a:schemeClr>
                </a:glow>
                <a:outerShdw blurRad="50800" dist="38100" dir="2700000" algn="tl" rotWithShape="0">
                  <a:prstClr val="black">
                    <a:alpha val="40000"/>
                  </a:prstClr>
                </a:outerShdw>
                <a:reflection blurRad="6350" stA="55000" endA="300" endPos="45500" dir="5400000" sy="-100000" algn="bl" rotWithShape="0"/>
              </a:effectLst>
            </a:endParaRPr>
          </a:p>
        </p:txBody>
      </p:sp>
    </p:spTree>
  </p:cSld>
  <p:clrMapOvr>
    <a:masterClrMapping/>
  </p:clrMapOvr>
  <mc:AlternateContent xmlns:mc="http://schemas.openxmlformats.org/markup-compatibility/2006" xmlns:p14="http://schemas.microsoft.com/office/powerpoint/2010/main">
    <mc:Choice Requires="p14">
      <p:transition p14:dur="10">
        <p:cover dir="d"/>
      </p:transition>
    </mc:Choice>
    <mc:Fallback xmlns="">
      <p:transition>
        <p:cover dir="d"/>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mph" presetSubtype="0" fill="hold" grpId="0" nodeType="afterEffect">
                                  <p:stCondLst>
                                    <p:cond delay="0"/>
                                  </p:stCondLst>
                                  <p:childTnLst>
                                    <p:animScale>
                                      <p:cBhvr>
                                        <p:cTn id="6" dur="2000" fill="hold"/>
                                        <p:tgtEl>
                                          <p:spTgt spid="4"/>
                                        </p:tgtEl>
                                      </p:cBhvr>
                                      <p:by x="150000" y="15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r>
              <a:rPr lang="ru-RU" b="1" dirty="0"/>
              <a:t>Носитель информации</a:t>
            </a:r>
            <a:br>
              <a:rPr lang="ru-RU" b="1" dirty="0"/>
            </a:br>
            <a:r>
              <a:rPr lang="ru-RU" b="1" dirty="0"/>
              <a:t>-</a:t>
            </a:r>
            <a:endParaRPr lang="ru-RU" dirty="0"/>
          </a:p>
        </p:txBody>
      </p:sp>
      <p:sp>
        <p:nvSpPr>
          <p:cNvPr id="3" name="Содержимое 2"/>
          <p:cNvSpPr>
            <a:spLocks noGrp="1"/>
          </p:cNvSpPr>
          <p:nvPr>
            <p:ph idx="1"/>
          </p:nvPr>
        </p:nvSpPr>
        <p:spPr>
          <a:xfrm>
            <a:off x="914400" y="1772816"/>
            <a:ext cx="8229600" cy="4525963"/>
          </a:xfrm>
        </p:spPr>
        <p:txBody>
          <a:bodyPr>
            <a:normAutofit/>
          </a:bodyPr>
          <a:lstStyle/>
          <a:p>
            <a:pPr algn="ctr">
              <a:buNone/>
            </a:pPr>
            <a:r>
              <a:rPr lang="ru-RU" dirty="0"/>
              <a:t>любой материальный объект или среда, способный достаточно длительное время сохранять (нести) в своей структуре занесённую в/на него информацию. </a:t>
            </a:r>
          </a:p>
          <a:p>
            <a:pPr algn="ctr">
              <a:buNone/>
            </a:pPr>
            <a:endParaRPr lang="ru-RU" dirty="0"/>
          </a:p>
        </p:txBody>
      </p:sp>
      <p:pic>
        <p:nvPicPr>
          <p:cNvPr id="7170" name="Picture 2" descr="http://www.nskfitness.ru/img/files/200%2862%29.jpg"/>
          <p:cNvPicPr>
            <a:picLocks noChangeAspect="1" noChangeArrowheads="1"/>
          </p:cNvPicPr>
          <p:nvPr/>
        </p:nvPicPr>
        <p:blipFill>
          <a:blip r:embed="rId2" cstate="print"/>
          <a:srcRect l="18157" r="21682"/>
          <a:stretch>
            <a:fillRect/>
          </a:stretch>
        </p:blipFill>
        <p:spPr bwMode="auto">
          <a:xfrm>
            <a:off x="107504" y="116632"/>
            <a:ext cx="1152128" cy="1944216"/>
          </a:xfrm>
          <a:prstGeom prst="rect">
            <a:avLst/>
          </a:prstGeom>
          <a:noFill/>
        </p:spPr>
      </p:pic>
    </p:spTree>
  </p:cSld>
  <p:clrMapOvr>
    <a:masterClrMapping/>
  </p:clrMapOvr>
  <p:transition>
    <p:cover di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1"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0-#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anim calcmode="lin" valueType="num">
                                      <p:cBhvr additive="base">
                                        <p:cTn id="11"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1"/>
      <p:bldP spid="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Содержимое 2"/>
          <p:cNvSpPr>
            <a:spLocks noGrp="1"/>
          </p:cNvSpPr>
          <p:nvPr>
            <p:ph idx="1"/>
          </p:nvPr>
        </p:nvSpPr>
        <p:spPr>
          <a:xfrm>
            <a:off x="395536" y="332656"/>
            <a:ext cx="8291264" cy="5793507"/>
          </a:xfrm>
        </p:spPr>
        <p:txBody>
          <a:bodyPr>
            <a:normAutofit/>
          </a:bodyPr>
          <a:lstStyle/>
          <a:p>
            <a:pPr algn="ctr">
              <a:buNone/>
            </a:pPr>
            <a:r>
              <a:rPr lang="ru-RU" dirty="0"/>
              <a:t>Основным носителем информации для человека является его собственная биологическая память (мозг человека). Собственную память человека можно назвать оперативной памятью. Здесь слово “оперативный” является синонимом слова “быстрый”. Заученные знания воспроизводятся человеком мгновенно. Собственную память мы еще можем назвать внутренней памятью, поскольку ее носитель – мозг – находится внутри нас. </a:t>
            </a:r>
          </a:p>
          <a:p>
            <a:pPr algn="ctr"/>
            <a:endParaRPr lang="ru-RU" dirty="0"/>
          </a:p>
        </p:txBody>
      </p:sp>
    </p:spTree>
  </p:cSld>
  <p:clrMapOvr>
    <a:masterClrMapping/>
  </p:clrMapOvr>
  <mc:AlternateContent xmlns:mc="http://schemas.openxmlformats.org/markup-compatibility/2006" xmlns:p14="http://schemas.microsoft.com/office/powerpoint/2010/main">
    <mc:Choice Requires="p14">
      <p:transition p14:dur="10">
        <p:cover dir="d"/>
      </p:transition>
    </mc:Choice>
    <mc:Fallback xmlns="">
      <p:transition>
        <p:cover dir="d"/>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42" fill="hold" grpId="0" nodeType="after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barn(outHorizontal)">
                                      <p:cBhvr>
                                        <p:cTn id="7" dur="500"/>
                                        <p:tgtEl>
                                          <p:spTgt spid="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r>
              <a:rPr lang="ru-RU" b="1" dirty="0"/>
              <a:t>Ленточные носители информации</a:t>
            </a:r>
            <a:br>
              <a:rPr lang="ru-RU" b="1" dirty="0"/>
            </a:br>
            <a:endParaRPr lang="ru-RU" dirty="0"/>
          </a:p>
        </p:txBody>
      </p:sp>
      <p:sp>
        <p:nvSpPr>
          <p:cNvPr id="3" name="Содержимое 2"/>
          <p:cNvSpPr>
            <a:spLocks noGrp="1"/>
          </p:cNvSpPr>
          <p:nvPr>
            <p:ph idx="1"/>
          </p:nvPr>
        </p:nvSpPr>
        <p:spPr>
          <a:xfrm>
            <a:off x="395536" y="1484784"/>
            <a:ext cx="4392488" cy="4968552"/>
          </a:xfrm>
        </p:spPr>
        <p:txBody>
          <a:bodyPr>
            <a:normAutofit/>
          </a:bodyPr>
          <a:lstStyle/>
          <a:p>
            <a:pPr algn="ctr">
              <a:buNone/>
            </a:pPr>
            <a:r>
              <a:rPr lang="ru-RU" b="1" i="1" dirty="0">
                <a:latin typeface="+mj-lt"/>
              </a:rPr>
              <a:t>Магнитная лента</a:t>
            </a:r>
            <a:r>
              <a:rPr lang="ru-RU" i="1" dirty="0">
                <a:latin typeface="+mj-lt"/>
              </a:rPr>
              <a:t> — носитель магнитной записи, представляющий собой тонкую гибкую ленту, состоящую из основы и магнитного рабочего слоя. </a:t>
            </a:r>
          </a:p>
        </p:txBody>
      </p:sp>
      <p:pic>
        <p:nvPicPr>
          <p:cNvPr id="6146" name="Picture 2" descr="http://www.wiki.vladimir.i-edu.ru/images/8/80/%D0%9C%D0%B0%D0%B3%D0%BD%D0%B8%D1%82%D0%BD%D0%B0%D1%8F_%D0%BB%D0%B5%D0%BD%D1%82%D0%B0.jpg"/>
          <p:cNvPicPr>
            <a:picLocks noChangeAspect="1" noChangeArrowheads="1"/>
          </p:cNvPicPr>
          <p:nvPr/>
        </p:nvPicPr>
        <p:blipFill>
          <a:blip r:embed="rId2" cstate="print"/>
          <a:srcRect/>
          <a:stretch>
            <a:fillRect/>
          </a:stretch>
        </p:blipFill>
        <p:spPr bwMode="auto">
          <a:xfrm>
            <a:off x="4932040" y="1340768"/>
            <a:ext cx="3802022" cy="3672408"/>
          </a:xfrm>
          <a:prstGeom prst="rect">
            <a:avLst/>
          </a:prstGeom>
          <a:noFill/>
        </p:spPr>
      </p:pic>
    </p:spTree>
  </p:cSld>
  <p:clrMapOvr>
    <a:masterClrMapping/>
  </p:clrMapOvr>
  <p:transition>
    <p:cover di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 presetClass="entr" presetSubtype="10" fill="hold" nodeType="afterEffect">
                                  <p:stCondLst>
                                    <p:cond delay="0"/>
                                  </p:stCondLst>
                                  <p:childTnLst>
                                    <p:set>
                                      <p:cBhvr>
                                        <p:cTn id="6" dur="1" fill="hold">
                                          <p:stCondLst>
                                            <p:cond delay="0"/>
                                          </p:stCondLst>
                                        </p:cTn>
                                        <p:tgtEl>
                                          <p:spTgt spid="6146"/>
                                        </p:tgtEl>
                                        <p:attrNameLst>
                                          <p:attrName>style.visibility</p:attrName>
                                        </p:attrNameLst>
                                      </p:cBhvr>
                                      <p:to>
                                        <p:strVal val="visible"/>
                                      </p:to>
                                    </p:set>
                                    <p:animEffect transition="in" filter="checkerboard(across)">
                                      <p:cBhvr>
                                        <p:cTn id="7" dur="500"/>
                                        <p:tgtEl>
                                          <p:spTgt spid="6146"/>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mph" presetSubtype="0" fill="hold" grpId="0" nodeType="clickEffect">
                                  <p:stCondLst>
                                    <p:cond delay="0"/>
                                  </p:stCondLst>
                                  <p:childTnLst>
                                    <p:animClr clrSpc="rgb" dir="cw">
                                      <p:cBhvr override="childStyle">
                                        <p:cTn id="11" dur="1900" fill="hold">
                                          <p:stCondLst>
                                            <p:cond delay="100"/>
                                          </p:stCondLst>
                                        </p:cTn>
                                        <p:tgtEl>
                                          <p:spTgt spid="2"/>
                                        </p:tgtEl>
                                        <p:attrNameLst>
                                          <p:attrName>style.color</p:attrName>
                                        </p:attrNameLst>
                                      </p:cBhvr>
                                      <p:to>
                                        <a:schemeClr val="bg2"/>
                                      </p:to>
                                    </p:animClr>
                                    <p:animClr clrSpc="rgb" dir="cw">
                                      <p:cBhvr>
                                        <p:cTn id="12" dur="1900" fill="hold">
                                          <p:stCondLst>
                                            <p:cond delay="100"/>
                                          </p:stCondLst>
                                        </p:cTn>
                                        <p:tgtEl>
                                          <p:spTgt spid="2"/>
                                        </p:tgtEl>
                                        <p:attrNameLst>
                                          <p:attrName>fillColor</p:attrName>
                                        </p:attrNameLst>
                                      </p:cBhvr>
                                      <p:to>
                                        <a:schemeClr val="bg2"/>
                                      </p:to>
                                    </p:animClr>
                                    <p:set>
                                      <p:cBhvr>
                                        <p:cTn id="13" dur="1900" fill="hold">
                                          <p:stCondLst>
                                            <p:cond delay="100"/>
                                          </p:stCondLst>
                                        </p:cTn>
                                        <p:tgtEl>
                                          <p:spTgt spid="2"/>
                                        </p:tgtEl>
                                        <p:attrNameLst>
                                          <p:attrName>fill.type</p:attrName>
                                        </p:attrNameLst>
                                      </p:cBhvr>
                                      <p:to>
                                        <p:strVal val="solid"/>
                                      </p:to>
                                    </p:set>
                                    <p:set>
                                      <p:cBhvr>
                                        <p:cTn id="14" dur="1900" fill="hold">
                                          <p:stCondLst>
                                            <p:cond delay="100"/>
                                          </p:stCondLst>
                                        </p:cTn>
                                        <p:tgtEl>
                                          <p:spTgt spid="2"/>
                                        </p:tgtEl>
                                        <p:attrNameLst>
                                          <p:attrName>fill.on</p:attrName>
                                        </p:attrNameLst>
                                      </p:cBhvr>
                                      <p:to>
                                        <p:strVal val="true"/>
                                      </p:to>
                                    </p:set>
                                    <p:animScale>
                                      <p:cBhvr>
                                        <p:cTn id="15" dur="200" fill="hold">
                                          <p:stCondLst>
                                            <p:cond delay="0"/>
                                          </p:stCondLst>
                                        </p:cTn>
                                        <p:tgtEl>
                                          <p:spTgt spid="2"/>
                                        </p:tgtEl>
                                      </p:cBhvr>
                                      <p:from x="100000" y="100000"/>
                                      <p:to x="100000" y="5000"/>
                                    </p:animScale>
                                    <p:animScale>
                                      <p:cBhvr>
                                        <p:cTn id="16" dur="200" fill="hold">
                                          <p:stCondLst>
                                            <p:cond delay="200"/>
                                          </p:stCondLst>
                                        </p:cTn>
                                        <p:tgtEl>
                                          <p:spTgt spid="2"/>
                                        </p:tgtEl>
                                      </p:cBhvr>
                                      <p:from x="100000" y="5000"/>
                                      <p:to x="120000" y="150000"/>
                                    </p:animScale>
                                    <p:animScale>
                                      <p:cBhvr>
                                        <p:cTn id="17" dur="600" fill="hold">
                                          <p:stCondLst>
                                            <p:cond delay="1400"/>
                                          </p:stCondLst>
                                        </p:cTn>
                                        <p:tgtEl>
                                          <p:spTgt spid="2"/>
                                        </p:tgtEl>
                                      </p:cBhvr>
                                      <p:to x="120000" y="150000"/>
                                    </p:animScale>
                                  </p:childTnLst>
                                </p:cTn>
                              </p:par>
                              <p:par>
                                <p:cTn id="18" presetID="22" presetClass="entr" presetSubtype="8" fill="hold" grpId="0" nodeType="withEffect">
                                  <p:stCondLst>
                                    <p:cond delay="0"/>
                                  </p:stCondLst>
                                  <p:childTnLst>
                                    <p:set>
                                      <p:cBhvr>
                                        <p:cTn id="19" dur="1" fill="hold">
                                          <p:stCondLst>
                                            <p:cond delay="0"/>
                                          </p:stCondLst>
                                        </p:cTn>
                                        <p:tgtEl>
                                          <p:spTgt spid="3">
                                            <p:txEl>
                                              <p:pRg st="0" end="0"/>
                                            </p:txEl>
                                          </p:spTgt>
                                        </p:tgtEl>
                                        <p:attrNameLst>
                                          <p:attrName>style.visibility</p:attrName>
                                        </p:attrNameLst>
                                      </p:cBhvr>
                                      <p:to>
                                        <p:strVal val="visible"/>
                                      </p:to>
                                    </p:set>
                                    <p:animEffect transition="in" filter="wipe(left)">
                                      <p:cBhvr>
                                        <p:cTn id="20"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r>
              <a:rPr lang="ru-RU" b="1" dirty="0"/>
              <a:t>Дисковые носители информации</a:t>
            </a:r>
            <a:br>
              <a:rPr lang="ru-RU" b="1" dirty="0"/>
            </a:br>
            <a:endParaRPr lang="ru-RU" dirty="0"/>
          </a:p>
        </p:txBody>
      </p:sp>
      <p:sp>
        <p:nvSpPr>
          <p:cNvPr id="3" name="Содержимое 2"/>
          <p:cNvSpPr>
            <a:spLocks noGrp="1"/>
          </p:cNvSpPr>
          <p:nvPr>
            <p:ph idx="1"/>
          </p:nvPr>
        </p:nvSpPr>
        <p:spPr>
          <a:xfrm>
            <a:off x="5148064" y="1600200"/>
            <a:ext cx="3600400" cy="4637112"/>
          </a:xfrm>
        </p:spPr>
        <p:txBody>
          <a:bodyPr/>
          <a:lstStyle/>
          <a:p>
            <a:pPr lvl="0" algn="ctr">
              <a:buNone/>
            </a:pPr>
            <a:r>
              <a:rPr lang="ru-RU" i="1" dirty="0"/>
              <a:t>Накопители на гибких магнитных дисках (НГМД), они же флоппи-диски, они же дискеты</a:t>
            </a:r>
          </a:p>
          <a:p>
            <a:endParaRPr lang="ru-RU" dirty="0"/>
          </a:p>
        </p:txBody>
      </p:sp>
      <p:pic>
        <p:nvPicPr>
          <p:cNvPr id="5122" name="Picture 2" descr="http://www.bochkavpechatleniy.com/data/photo/74171/8b52c6716e8ec9eb99caff87f7ae91be_original.jpeg"/>
          <p:cNvPicPr>
            <a:picLocks noChangeAspect="1" noChangeArrowheads="1"/>
          </p:cNvPicPr>
          <p:nvPr/>
        </p:nvPicPr>
        <p:blipFill>
          <a:blip r:embed="rId2" cstate="print"/>
          <a:srcRect/>
          <a:stretch>
            <a:fillRect/>
          </a:stretch>
        </p:blipFill>
        <p:spPr bwMode="auto">
          <a:xfrm>
            <a:off x="323528" y="1556792"/>
            <a:ext cx="5080188" cy="3816424"/>
          </a:xfrm>
          <a:prstGeom prst="rect">
            <a:avLst/>
          </a:prstGeom>
          <a:noFill/>
        </p:spPr>
      </p:pic>
    </p:spTree>
  </p:cSld>
  <p:clrMapOvr>
    <a:masterClrMapping/>
  </p:clrMapOvr>
  <p:transition>
    <p:cover di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2"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Scale>
                                      <p:cBhvr>
                                        <p:cTn id="7" dur="1000" decel="50000" fill="hold">
                                          <p:stCondLst>
                                            <p:cond delay="0"/>
                                          </p:stCondLst>
                                        </p:cTn>
                                        <p:tgtEl>
                                          <p:spTgt spid="2"/>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8" dur="1000" decel="50000" fill="hold">
                                          <p:stCondLst>
                                            <p:cond delay="0"/>
                                          </p:stCondLst>
                                        </p:cTn>
                                        <p:tgtEl>
                                          <p:spTgt spid="2"/>
                                        </p:tgtEl>
                                        <p:attrNameLst>
                                          <p:attrName>ppt_x</p:attrName>
                                          <p:attrName>ppt_y</p:attrName>
                                        </p:attrNameLst>
                                      </p:cBhvr>
                                    </p:animMotion>
                                    <p:animEffect transition="in" filter="fade">
                                      <p:cBhvr>
                                        <p:cTn id="9" dur="1000"/>
                                        <p:tgtEl>
                                          <p:spTgt spid="2"/>
                                        </p:tgtEl>
                                      </p:cBhvr>
                                    </p:animEffect>
                                  </p:childTnLst>
                                </p:cTn>
                              </p:par>
                              <p:par>
                                <p:cTn id="10" presetID="30" presetClass="entr" presetSubtype="0" fill="hold" nodeType="withEffect">
                                  <p:stCondLst>
                                    <p:cond delay="0"/>
                                  </p:stCondLst>
                                  <p:childTnLst>
                                    <p:set>
                                      <p:cBhvr>
                                        <p:cTn id="11" dur="1" fill="hold">
                                          <p:stCondLst>
                                            <p:cond delay="0"/>
                                          </p:stCondLst>
                                        </p:cTn>
                                        <p:tgtEl>
                                          <p:spTgt spid="5122"/>
                                        </p:tgtEl>
                                        <p:attrNameLst>
                                          <p:attrName>style.visibility</p:attrName>
                                        </p:attrNameLst>
                                      </p:cBhvr>
                                      <p:to>
                                        <p:strVal val="visible"/>
                                      </p:to>
                                    </p:set>
                                    <p:animEffect transition="in" filter="fade">
                                      <p:cBhvr>
                                        <p:cTn id="12" dur="800" decel="100000"/>
                                        <p:tgtEl>
                                          <p:spTgt spid="5122"/>
                                        </p:tgtEl>
                                      </p:cBhvr>
                                    </p:animEffect>
                                    <p:anim calcmode="lin" valueType="num">
                                      <p:cBhvr>
                                        <p:cTn id="13" dur="800" decel="100000" fill="hold"/>
                                        <p:tgtEl>
                                          <p:spTgt spid="5122"/>
                                        </p:tgtEl>
                                        <p:attrNameLst>
                                          <p:attrName>style.rotation</p:attrName>
                                        </p:attrNameLst>
                                      </p:cBhvr>
                                      <p:tavLst>
                                        <p:tav tm="0">
                                          <p:val>
                                            <p:fltVal val="-90"/>
                                          </p:val>
                                        </p:tav>
                                        <p:tav tm="100000">
                                          <p:val>
                                            <p:fltVal val="0"/>
                                          </p:val>
                                        </p:tav>
                                      </p:tavLst>
                                    </p:anim>
                                    <p:anim calcmode="lin" valueType="num">
                                      <p:cBhvr>
                                        <p:cTn id="14" dur="800" decel="100000" fill="hold"/>
                                        <p:tgtEl>
                                          <p:spTgt spid="5122"/>
                                        </p:tgtEl>
                                        <p:attrNameLst>
                                          <p:attrName>ppt_x</p:attrName>
                                        </p:attrNameLst>
                                      </p:cBhvr>
                                      <p:tavLst>
                                        <p:tav tm="0">
                                          <p:val>
                                            <p:strVal val="#ppt_x+0.4"/>
                                          </p:val>
                                        </p:tav>
                                        <p:tav tm="100000">
                                          <p:val>
                                            <p:strVal val="#ppt_x-0.05"/>
                                          </p:val>
                                        </p:tav>
                                      </p:tavLst>
                                    </p:anim>
                                    <p:anim calcmode="lin" valueType="num">
                                      <p:cBhvr>
                                        <p:cTn id="15" dur="800" decel="100000" fill="hold"/>
                                        <p:tgtEl>
                                          <p:spTgt spid="5122"/>
                                        </p:tgtEl>
                                        <p:attrNameLst>
                                          <p:attrName>ppt_y</p:attrName>
                                        </p:attrNameLst>
                                      </p:cBhvr>
                                      <p:tavLst>
                                        <p:tav tm="0">
                                          <p:val>
                                            <p:strVal val="#ppt_y-0.4"/>
                                          </p:val>
                                        </p:tav>
                                        <p:tav tm="100000">
                                          <p:val>
                                            <p:strVal val="#ppt_y+0.1"/>
                                          </p:val>
                                        </p:tav>
                                      </p:tavLst>
                                    </p:anim>
                                    <p:anim calcmode="lin" valueType="num">
                                      <p:cBhvr>
                                        <p:cTn id="16" dur="200" accel="100000" fill="hold">
                                          <p:stCondLst>
                                            <p:cond delay="800"/>
                                          </p:stCondLst>
                                        </p:cTn>
                                        <p:tgtEl>
                                          <p:spTgt spid="5122"/>
                                        </p:tgtEl>
                                        <p:attrNameLst>
                                          <p:attrName>ppt_x</p:attrName>
                                        </p:attrNameLst>
                                      </p:cBhvr>
                                      <p:tavLst>
                                        <p:tav tm="0">
                                          <p:val>
                                            <p:strVal val="#ppt_x-0.05"/>
                                          </p:val>
                                        </p:tav>
                                        <p:tav tm="100000">
                                          <p:val>
                                            <p:strVal val="#ppt_x"/>
                                          </p:val>
                                        </p:tav>
                                      </p:tavLst>
                                    </p:anim>
                                    <p:anim calcmode="lin" valueType="num">
                                      <p:cBhvr>
                                        <p:cTn id="17" dur="200" accel="100000" fill="hold">
                                          <p:stCondLst>
                                            <p:cond delay="800"/>
                                          </p:stCondLst>
                                        </p:cTn>
                                        <p:tgtEl>
                                          <p:spTgt spid="5122"/>
                                        </p:tgtEl>
                                        <p:attrNameLst>
                                          <p:attrName>ppt_y</p:attrName>
                                        </p:attrNameLst>
                                      </p:cBhvr>
                                      <p:tavLst>
                                        <p:tav tm="0">
                                          <p:val>
                                            <p:strVal val="#ppt_y+0.1"/>
                                          </p:val>
                                        </p:tav>
                                        <p:tav tm="100000">
                                          <p:val>
                                            <p:strVal val="#ppt_y"/>
                                          </p:val>
                                        </p:tav>
                                      </p:tavLst>
                                    </p:anim>
                                  </p:childTnLst>
                                </p:cTn>
                              </p:par>
                              <p:par>
                                <p:cTn id="18" presetID="2" presetClass="entr" presetSubtype="2" fill="hold" grpId="0" nodeType="withEffect">
                                  <p:stCondLst>
                                    <p:cond delay="0"/>
                                  </p:stCondLst>
                                  <p:childTnLst>
                                    <p:set>
                                      <p:cBhvr>
                                        <p:cTn id="19" dur="1" fill="hold">
                                          <p:stCondLst>
                                            <p:cond delay="0"/>
                                          </p:stCondLst>
                                        </p:cTn>
                                        <p:tgtEl>
                                          <p:spTgt spid="3">
                                            <p:txEl>
                                              <p:pRg st="0" end="0"/>
                                            </p:txEl>
                                          </p:spTgt>
                                        </p:tgtEl>
                                        <p:attrNameLst>
                                          <p:attrName>style.visibility</p:attrName>
                                        </p:attrNameLst>
                                      </p:cBhvr>
                                      <p:to>
                                        <p:strVal val="visible"/>
                                      </p:to>
                                    </p:set>
                                    <p:anim calcmode="lin" valueType="num">
                                      <p:cBhvr additive="base">
                                        <p:cTn id="20" dur="500" fill="hold"/>
                                        <p:tgtEl>
                                          <p:spTgt spid="3">
                                            <p:txEl>
                                              <p:pRg st="0" end="0"/>
                                            </p:txEl>
                                          </p:spTgt>
                                        </p:tgtEl>
                                        <p:attrNameLst>
                                          <p:attrName>ppt_x</p:attrName>
                                        </p:attrNameLst>
                                      </p:cBhvr>
                                      <p:tavLst>
                                        <p:tav tm="0">
                                          <p:val>
                                            <p:strVal val="1+#ppt_w/2"/>
                                          </p:val>
                                        </p:tav>
                                        <p:tav tm="100000">
                                          <p:val>
                                            <p:strVal val="#ppt_x"/>
                                          </p:val>
                                        </p:tav>
                                      </p:tavLst>
                                    </p:anim>
                                    <p:anim calcmode="lin" valueType="num">
                                      <p:cBhvr additive="base">
                                        <p:cTn id="21" dur="500" fill="hold"/>
                                        <p:tgtEl>
                                          <p:spTgt spid="3">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Содержимое 2"/>
          <p:cNvSpPr>
            <a:spLocks noGrp="1"/>
          </p:cNvSpPr>
          <p:nvPr>
            <p:ph idx="1"/>
          </p:nvPr>
        </p:nvSpPr>
        <p:spPr>
          <a:xfrm>
            <a:off x="323528" y="260648"/>
            <a:ext cx="8363272" cy="5865515"/>
          </a:xfrm>
        </p:spPr>
        <p:txBody>
          <a:bodyPr>
            <a:normAutofit/>
          </a:bodyPr>
          <a:lstStyle/>
          <a:p>
            <a:pPr algn="ctr">
              <a:buNone/>
            </a:pPr>
            <a:r>
              <a:rPr lang="ru-RU" i="1" dirty="0">
                <a:solidFill>
                  <a:schemeClr val="tx2">
                    <a:lumMod val="75000"/>
                  </a:schemeClr>
                </a:solidFill>
                <a:effectLst>
                  <a:outerShdw blurRad="38100" dist="38100" dir="2700000" algn="tl">
                    <a:srgbClr val="000000">
                      <a:alpha val="43137"/>
                    </a:srgbClr>
                  </a:outerShdw>
                </a:effectLst>
              </a:rPr>
              <a:t>Дискета, гибкий магнитный диск (англ. </a:t>
            </a:r>
            <a:r>
              <a:rPr lang="ru-RU" i="1" dirty="0" err="1">
                <a:solidFill>
                  <a:schemeClr val="tx2">
                    <a:lumMod val="75000"/>
                  </a:schemeClr>
                </a:solidFill>
                <a:effectLst>
                  <a:outerShdw blurRad="38100" dist="38100" dir="2700000" algn="tl">
                    <a:srgbClr val="000000">
                      <a:alpha val="43137"/>
                    </a:srgbClr>
                  </a:outerShdw>
                </a:effectLst>
              </a:rPr>
              <a:t>floppy</a:t>
            </a:r>
            <a:r>
              <a:rPr lang="ru-RU" i="1" dirty="0">
                <a:solidFill>
                  <a:schemeClr val="tx2">
                    <a:lumMod val="75000"/>
                  </a:schemeClr>
                </a:solidFill>
                <a:effectLst>
                  <a:outerShdw blurRad="38100" dist="38100" dir="2700000" algn="tl">
                    <a:srgbClr val="000000">
                      <a:alpha val="43137"/>
                    </a:srgbClr>
                  </a:outerShdw>
                </a:effectLst>
              </a:rPr>
              <a:t> </a:t>
            </a:r>
            <a:r>
              <a:rPr lang="ru-RU" i="1" dirty="0" err="1">
                <a:solidFill>
                  <a:schemeClr val="tx2">
                    <a:lumMod val="75000"/>
                  </a:schemeClr>
                </a:solidFill>
                <a:effectLst>
                  <a:outerShdw blurRad="38100" dist="38100" dir="2700000" algn="tl">
                    <a:srgbClr val="000000">
                      <a:alpha val="43137"/>
                    </a:srgbClr>
                  </a:outerShdw>
                </a:effectLst>
              </a:rPr>
              <a:t>disk</a:t>
            </a:r>
            <a:r>
              <a:rPr lang="en-US" i="1" dirty="0">
                <a:solidFill>
                  <a:schemeClr val="tx2">
                    <a:lumMod val="75000"/>
                  </a:schemeClr>
                </a:solidFill>
                <a:effectLst>
                  <a:outerShdw blurRad="38100" dist="38100" dir="2700000" algn="tl">
                    <a:srgbClr val="000000">
                      <a:alpha val="43137"/>
                    </a:srgbClr>
                  </a:outerShdw>
                </a:effectLst>
              </a:rPr>
              <a:t>)</a:t>
            </a:r>
            <a:r>
              <a:rPr lang="ru-RU" i="1" dirty="0">
                <a:solidFill>
                  <a:schemeClr val="tx2">
                    <a:lumMod val="75000"/>
                  </a:schemeClr>
                </a:solidFill>
                <a:effectLst>
                  <a:outerShdw blurRad="38100" dist="38100" dir="2700000" algn="tl">
                    <a:srgbClr val="000000">
                      <a:alpha val="43137"/>
                    </a:srgbClr>
                  </a:outerShdw>
                </a:effectLst>
              </a:rPr>
              <a:t>— портативный сменный носитель информации, используемый для многократной записи и хранения данных. Представляет собой помещённый в защитный пластиковый корпус диск, покрытый </a:t>
            </a:r>
            <a:r>
              <a:rPr lang="ru-RU" i="1" dirty="0" err="1">
                <a:solidFill>
                  <a:schemeClr val="tx2">
                    <a:lumMod val="75000"/>
                  </a:schemeClr>
                </a:solidFill>
                <a:effectLst>
                  <a:outerShdw blurRad="38100" dist="38100" dir="2700000" algn="tl">
                    <a:srgbClr val="000000">
                      <a:alpha val="43137"/>
                    </a:srgbClr>
                  </a:outerShdw>
                </a:effectLst>
              </a:rPr>
              <a:t>ферромагнитным</a:t>
            </a:r>
            <a:r>
              <a:rPr lang="ru-RU" i="1" dirty="0">
                <a:solidFill>
                  <a:schemeClr val="tx2">
                    <a:lumMod val="75000"/>
                  </a:schemeClr>
                </a:solidFill>
                <a:effectLst>
                  <a:outerShdw blurRad="38100" dist="38100" dir="2700000" algn="tl">
                    <a:srgbClr val="000000">
                      <a:alpha val="43137"/>
                    </a:srgbClr>
                  </a:outerShdw>
                </a:effectLst>
              </a:rPr>
              <a:t> слоем.</a:t>
            </a:r>
            <a:endParaRPr lang="en-US" i="1" dirty="0">
              <a:solidFill>
                <a:schemeClr val="tx2">
                  <a:lumMod val="75000"/>
                </a:schemeClr>
              </a:solidFill>
              <a:effectLst>
                <a:outerShdw blurRad="38100" dist="38100" dir="2700000" algn="tl">
                  <a:srgbClr val="000000">
                    <a:alpha val="43137"/>
                  </a:srgbClr>
                </a:outerShdw>
              </a:effectLst>
            </a:endParaRPr>
          </a:p>
          <a:p>
            <a:pPr algn="ctr">
              <a:buNone/>
            </a:pPr>
            <a:r>
              <a:rPr lang="ru-RU" i="1" dirty="0">
                <a:solidFill>
                  <a:schemeClr val="tx2">
                    <a:lumMod val="75000"/>
                  </a:schemeClr>
                </a:solidFill>
                <a:effectLst>
                  <a:outerShdw blurRad="38100" dist="38100" dir="2700000" algn="tl">
                    <a:srgbClr val="000000">
                      <a:alpha val="43137"/>
                    </a:srgbClr>
                  </a:outerShdw>
                </a:effectLst>
              </a:rPr>
              <a:t> Для считывания дискет используется дисковод.</a:t>
            </a:r>
          </a:p>
        </p:txBody>
      </p:sp>
    </p:spTree>
  </p:cSld>
  <p:clrMapOvr>
    <a:masterClrMapping/>
  </p:clrMapOvr>
  <p:transition>
    <p:cover di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mph" presetSubtype="0" fill="hold" grpId="0" nodeType="afterEffect">
                                  <p:stCondLst>
                                    <p:cond delay="0"/>
                                  </p:stCondLst>
                                  <p:childTnLst>
                                    <p:animClr clrSpc="rgb" dir="cw">
                                      <p:cBhvr override="childStyle">
                                        <p:cTn id="6" dur="1000" fill="hold"/>
                                        <p:tgtEl>
                                          <p:spTgt spid="3">
                                            <p:txEl>
                                              <p:pRg st="0" end="0"/>
                                            </p:txEl>
                                          </p:spTgt>
                                        </p:tgtEl>
                                        <p:attrNameLst>
                                          <p:attrName>style.color</p:attrName>
                                        </p:attrNameLst>
                                      </p:cBhvr>
                                      <p:to>
                                        <a:schemeClr val="accent2"/>
                                      </p:to>
                                    </p:animClr>
                                    <p:animClr clrSpc="rgb" dir="cw">
                                      <p:cBhvr>
                                        <p:cTn id="7" dur="1000" fill="hold"/>
                                        <p:tgtEl>
                                          <p:spTgt spid="3">
                                            <p:txEl>
                                              <p:pRg st="0" end="0"/>
                                            </p:txEl>
                                          </p:spTgt>
                                        </p:tgtEl>
                                        <p:attrNameLst>
                                          <p:attrName>fillcolor</p:attrName>
                                        </p:attrNameLst>
                                      </p:cBhvr>
                                      <p:to>
                                        <a:schemeClr val="accent2"/>
                                      </p:to>
                                    </p:animClr>
                                    <p:set>
                                      <p:cBhvr>
                                        <p:cTn id="8" dur="1000" fill="hold"/>
                                        <p:tgtEl>
                                          <p:spTgt spid="3">
                                            <p:txEl>
                                              <p:pRg st="0" end="0"/>
                                            </p:txEl>
                                          </p:spTgt>
                                        </p:tgtEl>
                                        <p:attrNameLst>
                                          <p:attrName>fill.type</p:attrName>
                                        </p:attrNameLst>
                                      </p:cBhvr>
                                      <p:to>
                                        <p:strVal val="solid"/>
                                      </p:to>
                                    </p:set>
                                    <p:set>
                                      <p:cBhvr>
                                        <p:cTn id="9" dur="1000" fill="hold"/>
                                        <p:tgtEl>
                                          <p:spTgt spid="3">
                                            <p:txEl>
                                              <p:pRg st="0" end="0"/>
                                            </p:txEl>
                                          </p:spTgt>
                                        </p:tgtEl>
                                        <p:attrNameLst>
                                          <p:attrName>fill.on</p:attrName>
                                        </p:attrNameLst>
                                      </p:cBhvr>
                                      <p:to>
                                        <p:strVal val="true"/>
                                      </p:to>
                                    </p:set>
                                  </p:childTnLst>
                                </p:cTn>
                              </p:par>
                            </p:childTnLst>
                          </p:cTn>
                        </p:par>
                        <p:par>
                          <p:cTn id="10" fill="hold">
                            <p:stCondLst>
                              <p:cond delay="1000"/>
                            </p:stCondLst>
                            <p:childTnLst>
                              <p:par>
                                <p:cTn id="11" presetID="19" presetClass="emph" presetSubtype="0" fill="hold" grpId="0" nodeType="afterEffect">
                                  <p:stCondLst>
                                    <p:cond delay="0"/>
                                  </p:stCondLst>
                                  <p:childTnLst>
                                    <p:animClr clrSpc="rgb" dir="cw">
                                      <p:cBhvr override="childStyle">
                                        <p:cTn id="12" dur="1000" fill="hold"/>
                                        <p:tgtEl>
                                          <p:spTgt spid="3">
                                            <p:txEl>
                                              <p:pRg st="1" end="1"/>
                                            </p:txEl>
                                          </p:spTgt>
                                        </p:tgtEl>
                                        <p:attrNameLst>
                                          <p:attrName>style.color</p:attrName>
                                        </p:attrNameLst>
                                      </p:cBhvr>
                                      <p:to>
                                        <a:schemeClr val="accent2"/>
                                      </p:to>
                                    </p:animClr>
                                    <p:animClr clrSpc="rgb" dir="cw">
                                      <p:cBhvr>
                                        <p:cTn id="13" dur="1000" fill="hold"/>
                                        <p:tgtEl>
                                          <p:spTgt spid="3">
                                            <p:txEl>
                                              <p:pRg st="1" end="1"/>
                                            </p:txEl>
                                          </p:spTgt>
                                        </p:tgtEl>
                                        <p:attrNameLst>
                                          <p:attrName>fillcolor</p:attrName>
                                        </p:attrNameLst>
                                      </p:cBhvr>
                                      <p:to>
                                        <a:schemeClr val="accent2"/>
                                      </p:to>
                                    </p:animClr>
                                    <p:set>
                                      <p:cBhvr>
                                        <p:cTn id="14" dur="1000" fill="hold"/>
                                        <p:tgtEl>
                                          <p:spTgt spid="3">
                                            <p:txEl>
                                              <p:pRg st="1" end="1"/>
                                            </p:txEl>
                                          </p:spTgt>
                                        </p:tgtEl>
                                        <p:attrNameLst>
                                          <p:attrName>fill.type</p:attrName>
                                        </p:attrNameLst>
                                      </p:cBhvr>
                                      <p:to>
                                        <p:strVal val="solid"/>
                                      </p:to>
                                    </p:set>
                                    <p:set>
                                      <p:cBhvr>
                                        <p:cTn id="15" dur="1000" fill="hold"/>
                                        <p:tgtEl>
                                          <p:spTgt spid="3">
                                            <p:txEl>
                                              <p:pRg st="1" end="1"/>
                                            </p:txEl>
                                          </p:spTgt>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Содержимое 2"/>
          <p:cNvSpPr>
            <a:spLocks noGrp="1"/>
          </p:cNvSpPr>
          <p:nvPr>
            <p:ph idx="1"/>
          </p:nvPr>
        </p:nvSpPr>
        <p:spPr>
          <a:xfrm>
            <a:off x="467544" y="476672"/>
            <a:ext cx="3240360" cy="5688632"/>
          </a:xfrm>
        </p:spPr>
        <p:txBody>
          <a:bodyPr>
            <a:normAutofit/>
          </a:bodyPr>
          <a:lstStyle/>
          <a:p>
            <a:pPr lvl="0" algn="ctr">
              <a:buNone/>
            </a:pPr>
            <a:r>
              <a:rPr lang="ru-RU" i="1" dirty="0"/>
              <a:t>Накопители на жестких магнитных дисках (НЖМД), они же винчестеры </a:t>
            </a:r>
            <a:endParaRPr lang="en-US" i="1" dirty="0"/>
          </a:p>
          <a:p>
            <a:pPr lvl="0" algn="ctr">
              <a:buNone/>
            </a:pPr>
            <a:r>
              <a:rPr lang="ru-RU" i="1" dirty="0"/>
              <a:t>(в народе просто «винты»)</a:t>
            </a:r>
          </a:p>
          <a:p>
            <a:pPr algn="ctr"/>
            <a:endParaRPr lang="ru-RU" i="1" dirty="0"/>
          </a:p>
        </p:txBody>
      </p:sp>
      <p:pic>
        <p:nvPicPr>
          <p:cNvPr id="4098" name="Picture 2" descr="http://www.spbmobile.ru/admin/_files/catalog/hdd/samsung-hd161hj_big.jpg"/>
          <p:cNvPicPr>
            <a:picLocks noChangeAspect="1" noChangeArrowheads="1"/>
          </p:cNvPicPr>
          <p:nvPr/>
        </p:nvPicPr>
        <p:blipFill>
          <a:blip r:embed="rId2" cstate="print"/>
          <a:srcRect/>
          <a:stretch>
            <a:fillRect/>
          </a:stretch>
        </p:blipFill>
        <p:spPr bwMode="auto">
          <a:xfrm>
            <a:off x="3714750" y="764704"/>
            <a:ext cx="5429250" cy="4076701"/>
          </a:xfrm>
          <a:prstGeom prst="rect">
            <a:avLst/>
          </a:prstGeom>
          <a:noFill/>
        </p:spPr>
      </p:pic>
    </p:spTree>
  </p:cSld>
  <p:clrMapOvr>
    <a:masterClrMapping/>
  </p:clrMapOvr>
  <p:transition>
    <p:cover di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up)">
                                      <p:cBhvr>
                                        <p:cTn id="7" dur="500"/>
                                        <p:tgtEl>
                                          <p:spTgt spid="3">
                                            <p:txEl>
                                              <p:pRg st="0" end="0"/>
                                            </p:txEl>
                                          </p:spTgt>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Effect transition="in" filter="wipe(up)">
                                      <p:cBhvr>
                                        <p:cTn id="11" dur="500"/>
                                        <p:tgtEl>
                                          <p:spTgt spid="3">
                                            <p:txEl>
                                              <p:pRg st="1" end="1"/>
                                            </p:txEl>
                                          </p:spTgt>
                                        </p:tgtEl>
                                      </p:cBhvr>
                                    </p:animEffect>
                                  </p:childTnLst>
                                </p:cTn>
                              </p:par>
                            </p:childTnLst>
                          </p:cTn>
                        </p:par>
                        <p:par>
                          <p:cTn id="12" fill="hold">
                            <p:stCondLst>
                              <p:cond delay="1000"/>
                            </p:stCondLst>
                            <p:childTnLst>
                              <p:par>
                                <p:cTn id="13" presetID="18" presetClass="entr" presetSubtype="12" fill="hold" nodeType="afterEffect">
                                  <p:stCondLst>
                                    <p:cond delay="0"/>
                                  </p:stCondLst>
                                  <p:childTnLst>
                                    <p:set>
                                      <p:cBhvr>
                                        <p:cTn id="14" dur="1" fill="hold">
                                          <p:stCondLst>
                                            <p:cond delay="0"/>
                                          </p:stCondLst>
                                        </p:cTn>
                                        <p:tgtEl>
                                          <p:spTgt spid="4098"/>
                                        </p:tgtEl>
                                        <p:attrNameLst>
                                          <p:attrName>style.visibility</p:attrName>
                                        </p:attrNameLst>
                                      </p:cBhvr>
                                      <p:to>
                                        <p:strVal val="visible"/>
                                      </p:to>
                                    </p:set>
                                    <p:animEffect transition="in" filter="strips(downLeft)">
                                      <p:cBhvr>
                                        <p:cTn id="15" dur="500"/>
                                        <p:tgtEl>
                                          <p:spTgt spid="409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Содержимое 2"/>
          <p:cNvSpPr>
            <a:spLocks noGrp="1"/>
          </p:cNvSpPr>
          <p:nvPr>
            <p:ph idx="1"/>
          </p:nvPr>
        </p:nvSpPr>
        <p:spPr>
          <a:xfrm>
            <a:off x="395536" y="332656"/>
            <a:ext cx="8291264" cy="5793507"/>
          </a:xfrm>
        </p:spPr>
        <p:txBody>
          <a:bodyPr>
            <a:normAutofit/>
          </a:bodyPr>
          <a:lstStyle/>
          <a:p>
            <a:pPr algn="ctr">
              <a:buNone/>
            </a:pPr>
            <a:r>
              <a:rPr lang="ru-RU" b="1" i="1" dirty="0">
                <a:solidFill>
                  <a:schemeClr val="accent3">
                    <a:lumMod val="75000"/>
                  </a:schemeClr>
                </a:solidFill>
                <a:effectLst>
                  <a:outerShdw blurRad="38100" dist="38100" dir="2700000" algn="tl">
                    <a:srgbClr val="000000">
                      <a:alpha val="43137"/>
                    </a:srgbClr>
                  </a:outerShdw>
                </a:effectLst>
              </a:rPr>
              <a:t>Накопитель на жёстких магнитных дисках</a:t>
            </a:r>
            <a:r>
              <a:rPr lang="ru-RU" i="1" dirty="0">
                <a:solidFill>
                  <a:schemeClr val="accent3">
                    <a:lumMod val="75000"/>
                  </a:schemeClr>
                </a:solidFill>
                <a:effectLst>
                  <a:outerShdw blurRad="38100" dist="38100" dir="2700000" algn="tl">
                    <a:srgbClr val="000000">
                      <a:alpha val="43137"/>
                    </a:srgbClr>
                  </a:outerShdw>
                </a:effectLst>
              </a:rPr>
              <a:t> или жёсткий диск</a:t>
            </a:r>
            <a:r>
              <a:rPr lang="en-US" i="1" dirty="0">
                <a:solidFill>
                  <a:schemeClr val="accent3">
                    <a:lumMod val="75000"/>
                  </a:schemeClr>
                </a:solidFill>
                <a:effectLst>
                  <a:outerShdw blurRad="38100" dist="38100" dir="2700000" algn="tl">
                    <a:srgbClr val="000000">
                      <a:alpha val="43137"/>
                    </a:srgbClr>
                  </a:outerShdw>
                </a:effectLst>
              </a:rPr>
              <a:t>(</a:t>
            </a:r>
            <a:r>
              <a:rPr lang="ru-RU" i="1" dirty="0">
                <a:solidFill>
                  <a:schemeClr val="accent3">
                    <a:lumMod val="75000"/>
                  </a:schemeClr>
                </a:solidFill>
                <a:effectLst>
                  <a:outerShdw blurRad="38100" dist="38100" dir="2700000" algn="tl">
                    <a:srgbClr val="000000">
                      <a:alpha val="43137"/>
                    </a:srgbClr>
                  </a:outerShdw>
                </a:effectLst>
              </a:rPr>
              <a:t>«</a:t>
            </a:r>
            <a:r>
              <a:rPr lang="ru-RU" i="1" dirty="0" err="1">
                <a:solidFill>
                  <a:schemeClr val="accent3">
                    <a:lumMod val="75000"/>
                  </a:schemeClr>
                </a:solidFill>
                <a:effectLst>
                  <a:outerShdw blurRad="38100" dist="38100" dir="2700000" algn="tl">
                    <a:srgbClr val="000000">
                      <a:alpha val="43137"/>
                    </a:srgbClr>
                  </a:outerShdw>
                </a:effectLst>
              </a:rPr>
              <a:t>винче́стер</a:t>
            </a:r>
            <a:r>
              <a:rPr lang="ru-RU" i="1" dirty="0">
                <a:solidFill>
                  <a:schemeClr val="accent3">
                    <a:lumMod val="75000"/>
                  </a:schemeClr>
                </a:solidFill>
                <a:effectLst>
                  <a:outerShdw blurRad="38100" dist="38100" dir="2700000" algn="tl">
                    <a:srgbClr val="000000">
                      <a:alpha val="43137"/>
                    </a:srgbClr>
                  </a:outerShdw>
                </a:effectLst>
              </a:rPr>
              <a:t>»</a:t>
            </a:r>
            <a:r>
              <a:rPr lang="en-US" i="1" dirty="0">
                <a:solidFill>
                  <a:schemeClr val="accent3">
                    <a:lumMod val="75000"/>
                  </a:schemeClr>
                </a:solidFill>
                <a:effectLst>
                  <a:outerShdw blurRad="38100" dist="38100" dir="2700000" algn="tl">
                    <a:srgbClr val="000000">
                      <a:alpha val="43137"/>
                    </a:srgbClr>
                  </a:outerShdw>
                </a:effectLst>
              </a:rPr>
              <a:t>)</a:t>
            </a:r>
            <a:r>
              <a:rPr lang="ru-RU" i="1" dirty="0">
                <a:solidFill>
                  <a:schemeClr val="accent3">
                    <a:lumMod val="75000"/>
                  </a:schemeClr>
                </a:solidFill>
                <a:effectLst>
                  <a:outerShdw blurRad="38100" dist="38100" dir="2700000" algn="tl">
                    <a:srgbClr val="000000">
                      <a:alpha val="43137"/>
                    </a:srgbClr>
                  </a:outerShdw>
                </a:effectLst>
              </a:rPr>
              <a:t> — запоминающее устройство произвольного доступа, основанное на принципе магнитной записи. Является основным накопителем данных в большинстве компьютеров.</a:t>
            </a:r>
          </a:p>
          <a:p>
            <a:pPr algn="ctr">
              <a:buNone/>
            </a:pPr>
            <a:endParaRPr lang="ru-RU" i="1" dirty="0">
              <a:solidFill>
                <a:schemeClr val="accent3">
                  <a:lumMod val="75000"/>
                </a:schemeClr>
              </a:solidFill>
              <a:effectLst>
                <a:outerShdw blurRad="38100" dist="38100" dir="2700000" algn="tl">
                  <a:srgbClr val="000000">
                    <a:alpha val="43137"/>
                  </a:srgbClr>
                </a:outerShdw>
              </a:effectLst>
            </a:endParaRPr>
          </a:p>
        </p:txBody>
      </p:sp>
    </p:spTree>
  </p:cSld>
  <p:clrMapOvr>
    <a:masterClrMapping/>
  </p:clrMapOvr>
  <p:transition>
    <p:cover di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6" presetClass="entr" presetSubtype="0"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290">
                                          <p:stCondLst>
                                            <p:cond delay="0"/>
                                          </p:stCondLst>
                                        </p:cTn>
                                        <p:tgtEl>
                                          <p:spTgt spid="3">
                                            <p:txEl>
                                              <p:pRg st="0" end="0"/>
                                            </p:txEl>
                                          </p:spTgt>
                                        </p:tgtEl>
                                      </p:cBhvr>
                                    </p:animEffect>
                                    <p:anim calcmode="lin" valueType="num">
                                      <p:cBhvr>
                                        <p:cTn id="8" dur="911" tmFilter="0,0; 0.14,0.36; 0.43,0.73; 0.71,0.91; 1.0,1.0">
                                          <p:stCondLst>
                                            <p:cond delay="0"/>
                                          </p:stCondLst>
                                        </p:cTn>
                                        <p:tgtEl>
                                          <p:spTgt spid="3">
                                            <p:txEl>
                                              <p:pRg st="0" end="0"/>
                                            </p:txEl>
                                          </p:spTgt>
                                        </p:tgtEl>
                                        <p:attrNameLst>
                                          <p:attrName>ppt_x</p:attrName>
                                        </p:attrNameLst>
                                      </p:cBhvr>
                                      <p:tavLst>
                                        <p:tav tm="0">
                                          <p:val>
                                            <p:strVal val="#ppt_x-0.25"/>
                                          </p:val>
                                        </p:tav>
                                        <p:tav tm="100000">
                                          <p:val>
                                            <p:strVal val="#ppt_x"/>
                                          </p:val>
                                        </p:tav>
                                      </p:tavLst>
                                    </p:anim>
                                    <p:anim calcmode="lin" valueType="num">
                                      <p:cBhvr>
                                        <p:cTn id="9" dur="332" tmFilter="0.0,0.0; 0.25,0.07; 0.50,0.2; 0.75,0.467; 1.0,1.0">
                                          <p:stCondLst>
                                            <p:cond delay="0"/>
                                          </p:stCondLst>
                                        </p:cTn>
                                        <p:tgtEl>
                                          <p:spTgt spid="3">
                                            <p:txEl>
                                              <p:pRg st="0" end="0"/>
                                            </p:txEl>
                                          </p:spTgt>
                                        </p:tgtEl>
                                        <p:attrNameLst>
                                          <p:attrName>ppt_y</p:attrName>
                                        </p:attrNameLst>
                                      </p:cBhvr>
                                      <p:tavLst>
                                        <p:tav tm="0" fmla="#ppt_y-sin(pi*$)/3">
                                          <p:val>
                                            <p:fltVal val="0.5"/>
                                          </p:val>
                                        </p:tav>
                                        <p:tav tm="100000">
                                          <p:val>
                                            <p:fltVal val="1"/>
                                          </p:val>
                                        </p:tav>
                                      </p:tavLst>
                                    </p:anim>
                                    <p:anim calcmode="lin" valueType="num">
                                      <p:cBhvr>
                                        <p:cTn id="10" dur="332" tmFilter="0, 0; 0.125,0.2665; 0.25,0.4; 0.375,0.465; 0.5,0.5;  0.625,0.535; 0.75,0.6; 0.875,0.7335; 1,1">
                                          <p:stCondLst>
                                            <p:cond delay="332"/>
                                          </p:stCondLst>
                                        </p:cTn>
                                        <p:tgtEl>
                                          <p:spTgt spid="3">
                                            <p:txEl>
                                              <p:pRg st="0" end="0"/>
                                            </p:txEl>
                                          </p:spTgt>
                                        </p:tgtEl>
                                        <p:attrNameLst>
                                          <p:attrName>ppt_y</p:attrName>
                                        </p:attrNameLst>
                                      </p:cBhvr>
                                      <p:tavLst>
                                        <p:tav tm="0" fmla="#ppt_y-sin(pi*$)/9">
                                          <p:val>
                                            <p:fltVal val="0"/>
                                          </p:val>
                                        </p:tav>
                                        <p:tav tm="100000">
                                          <p:val>
                                            <p:fltVal val="1"/>
                                          </p:val>
                                        </p:tav>
                                      </p:tavLst>
                                    </p:anim>
                                    <p:anim calcmode="lin" valueType="num">
                                      <p:cBhvr>
                                        <p:cTn id="11" dur="166" tmFilter="0, 0; 0.125,0.2665; 0.25,0.4; 0.375,0.465; 0.5,0.5;  0.625,0.535; 0.75,0.6; 0.875,0.7335; 1,1">
                                          <p:stCondLst>
                                            <p:cond delay="662"/>
                                          </p:stCondLst>
                                        </p:cTn>
                                        <p:tgtEl>
                                          <p:spTgt spid="3">
                                            <p:txEl>
                                              <p:pRg st="0" end="0"/>
                                            </p:txEl>
                                          </p:spTgt>
                                        </p:tgtEl>
                                        <p:attrNameLst>
                                          <p:attrName>ppt_y</p:attrName>
                                        </p:attrNameLst>
                                      </p:cBhvr>
                                      <p:tavLst>
                                        <p:tav tm="0" fmla="#ppt_y-sin(pi*$)/27">
                                          <p:val>
                                            <p:fltVal val="0"/>
                                          </p:val>
                                        </p:tav>
                                        <p:tav tm="100000">
                                          <p:val>
                                            <p:fltVal val="1"/>
                                          </p:val>
                                        </p:tav>
                                      </p:tavLst>
                                    </p:anim>
                                    <p:anim calcmode="lin" valueType="num">
                                      <p:cBhvr>
                                        <p:cTn id="12" dur="82" tmFilter="0, 0; 0.125,0.2665; 0.25,0.4; 0.375,0.465; 0.5,0.5;  0.625,0.535; 0.75,0.6; 0.875,0.7335; 1,1">
                                          <p:stCondLst>
                                            <p:cond delay="828"/>
                                          </p:stCondLst>
                                        </p:cTn>
                                        <p:tgtEl>
                                          <p:spTgt spid="3">
                                            <p:txEl>
                                              <p:pRg st="0" end="0"/>
                                            </p:txEl>
                                          </p:spTgt>
                                        </p:tgtEl>
                                        <p:attrNameLst>
                                          <p:attrName>ppt_y</p:attrName>
                                        </p:attrNameLst>
                                      </p:cBhvr>
                                      <p:tavLst>
                                        <p:tav tm="0" fmla="#ppt_y-sin(pi*$)/81">
                                          <p:val>
                                            <p:fltVal val="0"/>
                                          </p:val>
                                        </p:tav>
                                        <p:tav tm="100000">
                                          <p:val>
                                            <p:fltVal val="1"/>
                                          </p:val>
                                        </p:tav>
                                      </p:tavLst>
                                    </p:anim>
                                    <p:animScale>
                                      <p:cBhvr>
                                        <p:cTn id="13" dur="13">
                                          <p:stCondLst>
                                            <p:cond delay="325"/>
                                          </p:stCondLst>
                                        </p:cTn>
                                        <p:tgtEl>
                                          <p:spTgt spid="3">
                                            <p:txEl>
                                              <p:pRg st="0" end="0"/>
                                            </p:txEl>
                                          </p:spTgt>
                                        </p:tgtEl>
                                      </p:cBhvr>
                                      <p:to x="100000" y="60000"/>
                                    </p:animScale>
                                    <p:animScale>
                                      <p:cBhvr>
                                        <p:cTn id="14" dur="83" decel="50000">
                                          <p:stCondLst>
                                            <p:cond delay="338"/>
                                          </p:stCondLst>
                                        </p:cTn>
                                        <p:tgtEl>
                                          <p:spTgt spid="3">
                                            <p:txEl>
                                              <p:pRg st="0" end="0"/>
                                            </p:txEl>
                                          </p:spTgt>
                                        </p:tgtEl>
                                      </p:cBhvr>
                                      <p:to x="100000" y="100000"/>
                                    </p:animScale>
                                    <p:animScale>
                                      <p:cBhvr>
                                        <p:cTn id="15" dur="13">
                                          <p:stCondLst>
                                            <p:cond delay="656"/>
                                          </p:stCondLst>
                                        </p:cTn>
                                        <p:tgtEl>
                                          <p:spTgt spid="3">
                                            <p:txEl>
                                              <p:pRg st="0" end="0"/>
                                            </p:txEl>
                                          </p:spTgt>
                                        </p:tgtEl>
                                      </p:cBhvr>
                                      <p:to x="100000" y="80000"/>
                                    </p:animScale>
                                    <p:animScale>
                                      <p:cBhvr>
                                        <p:cTn id="16" dur="83" decel="50000">
                                          <p:stCondLst>
                                            <p:cond delay="669"/>
                                          </p:stCondLst>
                                        </p:cTn>
                                        <p:tgtEl>
                                          <p:spTgt spid="3">
                                            <p:txEl>
                                              <p:pRg st="0" end="0"/>
                                            </p:txEl>
                                          </p:spTgt>
                                        </p:tgtEl>
                                      </p:cBhvr>
                                      <p:to x="100000" y="100000"/>
                                    </p:animScale>
                                    <p:animScale>
                                      <p:cBhvr>
                                        <p:cTn id="17" dur="13">
                                          <p:stCondLst>
                                            <p:cond delay="821"/>
                                          </p:stCondLst>
                                        </p:cTn>
                                        <p:tgtEl>
                                          <p:spTgt spid="3">
                                            <p:txEl>
                                              <p:pRg st="0" end="0"/>
                                            </p:txEl>
                                          </p:spTgt>
                                        </p:tgtEl>
                                      </p:cBhvr>
                                      <p:to x="100000" y="90000"/>
                                    </p:animScale>
                                    <p:animScale>
                                      <p:cBhvr>
                                        <p:cTn id="18" dur="83" decel="50000">
                                          <p:stCondLst>
                                            <p:cond delay="834"/>
                                          </p:stCondLst>
                                        </p:cTn>
                                        <p:tgtEl>
                                          <p:spTgt spid="3">
                                            <p:txEl>
                                              <p:pRg st="0" end="0"/>
                                            </p:txEl>
                                          </p:spTgt>
                                        </p:tgtEl>
                                      </p:cBhvr>
                                      <p:to x="100000" y="100000"/>
                                    </p:animScale>
                                    <p:animScale>
                                      <p:cBhvr>
                                        <p:cTn id="19" dur="13">
                                          <p:stCondLst>
                                            <p:cond delay="904"/>
                                          </p:stCondLst>
                                        </p:cTn>
                                        <p:tgtEl>
                                          <p:spTgt spid="3">
                                            <p:txEl>
                                              <p:pRg st="0" end="0"/>
                                            </p:txEl>
                                          </p:spTgt>
                                        </p:tgtEl>
                                      </p:cBhvr>
                                      <p:to x="100000" y="95000"/>
                                    </p:animScale>
                                    <p:animScale>
                                      <p:cBhvr>
                                        <p:cTn id="20" dur="83" decel="50000">
                                          <p:stCondLst>
                                            <p:cond delay="917"/>
                                          </p:stCondLst>
                                        </p:cTn>
                                        <p:tgtEl>
                                          <p:spTgt spid="3">
                                            <p:txEl>
                                              <p:pRg st="0" end="0"/>
                                            </p:txEl>
                                          </p:spTgt>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Содержимое 2"/>
          <p:cNvSpPr>
            <a:spLocks noGrp="1"/>
          </p:cNvSpPr>
          <p:nvPr>
            <p:ph idx="1"/>
          </p:nvPr>
        </p:nvSpPr>
        <p:spPr>
          <a:xfrm>
            <a:off x="323528" y="404664"/>
            <a:ext cx="8363272" cy="5721499"/>
          </a:xfrm>
        </p:spPr>
        <p:txBody>
          <a:bodyPr>
            <a:normAutofit fontScale="85000" lnSpcReduction="10000"/>
          </a:bodyPr>
          <a:lstStyle/>
          <a:p>
            <a:pPr algn="ctr">
              <a:buNone/>
            </a:pPr>
            <a:r>
              <a:rPr lang="ru-RU" b="1" dirty="0">
                <a:ln w="900" cmpd="sng">
                  <a:solidFill>
                    <a:schemeClr val="accent1">
                      <a:satMod val="190000"/>
                      <a:alpha val="55000"/>
                    </a:schemeClr>
                  </a:solidFill>
                  <a:prstDash val="solid"/>
                </a:ln>
                <a:solidFill>
                  <a:schemeClr val="accent1">
                    <a:satMod val="200000"/>
                    <a:tint val="3000"/>
                  </a:schemeClr>
                </a:solidFill>
                <a:effectLst>
                  <a:innerShdw blurRad="101600" dist="76200" dir="5400000">
                    <a:schemeClr val="accent1">
                      <a:satMod val="190000"/>
                      <a:tint val="100000"/>
                      <a:alpha val="74000"/>
                    </a:schemeClr>
                  </a:innerShdw>
                </a:effectLst>
              </a:rPr>
              <a:t>Отличия от «гибкого» диска:</a:t>
            </a:r>
          </a:p>
          <a:p>
            <a:r>
              <a:rPr lang="ru-RU" i="1" dirty="0">
                <a:solidFill>
                  <a:schemeClr val="accent5">
                    <a:lumMod val="60000"/>
                    <a:lumOff val="40000"/>
                  </a:schemeClr>
                </a:solidFill>
                <a:effectLst>
                  <a:outerShdw blurRad="38100" dist="38100" dir="2700000" algn="tl">
                    <a:srgbClr val="000000">
                      <a:alpha val="43137"/>
                    </a:srgbClr>
                  </a:outerShdw>
                </a:effectLst>
              </a:rPr>
              <a:t>информация в НЖМД записывается на жёсткие (алюминиевые или стеклянные) пластины, покрытые слоем </a:t>
            </a:r>
            <a:r>
              <a:rPr lang="ru-RU" i="1" dirty="0" err="1">
                <a:solidFill>
                  <a:schemeClr val="accent5">
                    <a:lumMod val="60000"/>
                    <a:lumOff val="40000"/>
                  </a:schemeClr>
                </a:solidFill>
                <a:effectLst>
                  <a:outerShdw blurRad="38100" dist="38100" dir="2700000" algn="tl">
                    <a:srgbClr val="000000">
                      <a:alpha val="43137"/>
                    </a:srgbClr>
                  </a:outerShdw>
                </a:effectLst>
              </a:rPr>
              <a:t>ферромагнитного</a:t>
            </a:r>
            <a:r>
              <a:rPr lang="ru-RU" i="1" dirty="0">
                <a:solidFill>
                  <a:schemeClr val="accent5">
                    <a:lumMod val="60000"/>
                    <a:lumOff val="40000"/>
                  </a:schemeClr>
                </a:solidFill>
                <a:effectLst>
                  <a:outerShdw blurRad="38100" dist="38100" dir="2700000" algn="tl">
                    <a:srgbClr val="000000">
                      <a:alpha val="43137"/>
                    </a:srgbClr>
                  </a:outerShdw>
                </a:effectLst>
              </a:rPr>
              <a:t> материала, чаще всего двуокиси хрома — магнитные диски. </a:t>
            </a:r>
          </a:p>
          <a:p>
            <a:r>
              <a:rPr lang="ru-RU" i="1" dirty="0">
                <a:solidFill>
                  <a:schemeClr val="accent5">
                    <a:lumMod val="60000"/>
                    <a:lumOff val="40000"/>
                  </a:schemeClr>
                </a:solidFill>
                <a:effectLst>
                  <a:outerShdw blurRad="38100" dist="38100" dir="2700000" algn="tl">
                    <a:srgbClr val="000000">
                      <a:alpha val="43137"/>
                    </a:srgbClr>
                  </a:outerShdw>
                </a:effectLst>
              </a:rPr>
              <a:t>носитель информации обычно совмещают с накопителем, приводом и блоком электроники. </a:t>
            </a:r>
          </a:p>
          <a:p>
            <a:pPr>
              <a:buNone/>
            </a:pPr>
            <a:endParaRPr lang="ru-RU" dirty="0"/>
          </a:p>
          <a:p>
            <a:endParaRPr lang="ru-RU" dirty="0"/>
          </a:p>
          <a:p>
            <a:pPr algn="ctr">
              <a:buNone/>
            </a:pPr>
            <a:r>
              <a:rPr lang="ru-RU" dirty="0">
                <a:solidFill>
                  <a:schemeClr val="tx1">
                    <a:lumMod val="65000"/>
                    <a:lumOff val="35000"/>
                  </a:schemeClr>
                </a:solidFill>
                <a:latin typeface="Bookman Old Style" pitchFamily="18" charset="0"/>
              </a:rPr>
              <a:t>Такие жёсткие диски часто используются в качестве несъёмного носителя информации. И из-за отсутствия механического контакта имеет долгий срок службы устройства. </a:t>
            </a:r>
          </a:p>
          <a:p>
            <a:endParaRPr lang="ru-RU" dirty="0"/>
          </a:p>
        </p:txBody>
      </p:sp>
    </p:spTree>
  </p:cSld>
  <p:clrMapOvr>
    <a:masterClrMapping/>
  </p:clrMapOvr>
  <p:transition>
    <p:cover di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mph" presetSubtype="0" fill="hold" nodeType="afterEffect">
                                  <p:stCondLst>
                                    <p:cond delay="0"/>
                                  </p:stCondLst>
                                  <p:childTnLst>
                                    <p:animScale>
                                      <p:cBhvr>
                                        <p:cTn id="6" dur="2000" fill="hold"/>
                                        <p:tgtEl>
                                          <p:spTgt spid="3">
                                            <p:txEl>
                                              <p:pRg st="0" end="0"/>
                                            </p:txEl>
                                          </p:spTgt>
                                        </p:tgtEl>
                                      </p:cBhvr>
                                      <p:by x="150000" y="15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Содержимое 2"/>
          <p:cNvSpPr>
            <a:spLocks noGrp="1"/>
          </p:cNvSpPr>
          <p:nvPr>
            <p:ph idx="1"/>
          </p:nvPr>
        </p:nvSpPr>
        <p:spPr>
          <a:xfrm>
            <a:off x="539552" y="116632"/>
            <a:ext cx="8291264" cy="1972816"/>
          </a:xfrm>
        </p:spPr>
        <p:txBody>
          <a:bodyPr/>
          <a:lstStyle/>
          <a:p>
            <a:pPr lvl="0" algn="ctr">
              <a:buNone/>
            </a:pPr>
            <a:r>
              <a:rPr lang="ru-RU" dirty="0"/>
              <a:t>Накопители на оптических компакт-дисках:</a:t>
            </a:r>
            <a:endParaRPr lang="ru-RU" sz="2400" dirty="0"/>
          </a:p>
          <a:p>
            <a:pPr lvl="1"/>
            <a:r>
              <a:rPr lang="en-US" u="sng" dirty="0"/>
              <a:t>CD</a:t>
            </a:r>
            <a:r>
              <a:rPr lang="en-US" dirty="0"/>
              <a:t> </a:t>
            </a:r>
            <a:r>
              <a:rPr lang="en-US" i="1" dirty="0"/>
              <a:t>(</a:t>
            </a:r>
            <a:r>
              <a:rPr lang="en-US" sz="2000" i="1" dirty="0"/>
              <a:t>Compact Disk ROM</a:t>
            </a:r>
            <a:r>
              <a:rPr lang="en-US" i="1" dirty="0"/>
              <a:t>)</a:t>
            </a:r>
            <a:endParaRPr lang="ru-RU" sz="2000" i="1" dirty="0"/>
          </a:p>
          <a:p>
            <a:pPr lvl="1"/>
            <a:r>
              <a:rPr lang="ru-RU" u="sng" dirty="0"/>
              <a:t>DVD</a:t>
            </a:r>
            <a:r>
              <a:rPr lang="ru-RU" dirty="0"/>
              <a:t> </a:t>
            </a:r>
            <a:r>
              <a:rPr lang="ru-RU" sz="2000" i="1" dirty="0"/>
              <a:t>(</a:t>
            </a:r>
            <a:r>
              <a:rPr lang="en-US" sz="2000" i="1" dirty="0"/>
              <a:t>Digital Versatile Disc</a:t>
            </a:r>
            <a:r>
              <a:rPr lang="ru-RU" sz="2000" i="1" dirty="0"/>
              <a:t>)</a:t>
            </a:r>
            <a:endParaRPr lang="ru-RU" sz="2000" dirty="0"/>
          </a:p>
          <a:p>
            <a:endParaRPr lang="ru-RU" dirty="0"/>
          </a:p>
        </p:txBody>
      </p:sp>
      <p:pic>
        <p:nvPicPr>
          <p:cNvPr id="2050" name="Picture 2" descr="http://img02.darudar.org/s600/00/00/04/f4/04f4d5928ed073f592fa8baf4f77251d.jpg"/>
          <p:cNvPicPr>
            <a:picLocks noChangeAspect="1" noChangeArrowheads="1"/>
          </p:cNvPicPr>
          <p:nvPr/>
        </p:nvPicPr>
        <p:blipFill>
          <a:blip r:embed="rId2" cstate="print"/>
          <a:srcRect l="25200" r="24401"/>
          <a:stretch>
            <a:fillRect/>
          </a:stretch>
        </p:blipFill>
        <p:spPr bwMode="auto">
          <a:xfrm>
            <a:off x="611560" y="1844824"/>
            <a:ext cx="2880320" cy="3810000"/>
          </a:xfrm>
          <a:prstGeom prst="rect">
            <a:avLst/>
          </a:prstGeom>
          <a:noFill/>
        </p:spPr>
      </p:pic>
      <p:pic>
        <p:nvPicPr>
          <p:cNvPr id="2052" name="Picture 4" descr="http://beophile.com/wp-content/produits/compactdisc29.jpg"/>
          <p:cNvPicPr>
            <a:picLocks noChangeAspect="1" noChangeArrowheads="1"/>
          </p:cNvPicPr>
          <p:nvPr/>
        </p:nvPicPr>
        <p:blipFill>
          <a:blip r:embed="rId3" cstate="print"/>
          <a:srcRect l="26372" r="25280"/>
          <a:stretch>
            <a:fillRect/>
          </a:stretch>
        </p:blipFill>
        <p:spPr bwMode="auto">
          <a:xfrm>
            <a:off x="4499992" y="1988840"/>
            <a:ext cx="3672408" cy="3494667"/>
          </a:xfrm>
          <a:prstGeom prst="rect">
            <a:avLst/>
          </a:prstGeom>
          <a:noFill/>
        </p:spPr>
      </p:pic>
    </p:spTree>
  </p:cSld>
  <p:clrMapOvr>
    <a:masterClrMapping/>
  </p:clrMapOvr>
  <p:transition>
    <p:cover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0-#ppt_h/2"/>
                                          </p:val>
                                        </p:tav>
                                        <p:tav tm="100000">
                                          <p:val>
                                            <p:strVal val="#ppt_y"/>
                                          </p:val>
                                        </p:tav>
                                      </p:tavLst>
                                    </p:anim>
                                  </p:childTnLst>
                                </p:cTn>
                              </p:par>
                              <p:par>
                                <p:cTn id="9" presetID="2" presetClass="entr" presetSubtype="1" fill="hold" grpId="0"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0-#ppt_h/2"/>
                                          </p:val>
                                        </p:tav>
                                        <p:tav tm="100000">
                                          <p:val>
                                            <p:strVal val="#ppt_y"/>
                                          </p:val>
                                        </p:tav>
                                      </p:tavLst>
                                    </p:anim>
                                  </p:childTnLst>
                                </p:cTn>
                              </p:par>
                              <p:par>
                                <p:cTn id="13" presetID="2" presetClass="entr" presetSubtype="1" fill="hold" grpId="0"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 calcmode="lin" valueType="num">
                                      <p:cBhvr additive="base">
                                        <p:cTn id="1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2" end="2"/>
                                            </p:txEl>
                                          </p:spTgt>
                                        </p:tgtEl>
                                        <p:attrNameLst>
                                          <p:attrName>ppt_y</p:attrName>
                                        </p:attrNameLst>
                                      </p:cBhvr>
                                      <p:tavLst>
                                        <p:tav tm="0">
                                          <p:val>
                                            <p:strVal val="0-#ppt_h/2"/>
                                          </p:val>
                                        </p:tav>
                                        <p:tav tm="100000">
                                          <p:val>
                                            <p:strVal val="#ppt_y"/>
                                          </p:val>
                                        </p:tav>
                                      </p:tavLst>
                                    </p:anim>
                                  </p:childTnLst>
                                </p:cTn>
                              </p:par>
                              <p:par>
                                <p:cTn id="17" presetID="48" presetClass="entr" presetSubtype="0" accel="50000" fill="hold" nodeType="withEffect">
                                  <p:stCondLst>
                                    <p:cond delay="0"/>
                                  </p:stCondLst>
                                  <p:childTnLst>
                                    <p:set>
                                      <p:cBhvr>
                                        <p:cTn id="18" dur="1" fill="hold">
                                          <p:stCondLst>
                                            <p:cond delay="0"/>
                                          </p:stCondLst>
                                        </p:cTn>
                                        <p:tgtEl>
                                          <p:spTgt spid="2050"/>
                                        </p:tgtEl>
                                        <p:attrNameLst>
                                          <p:attrName>style.visibility</p:attrName>
                                        </p:attrNameLst>
                                      </p:cBhvr>
                                      <p:to>
                                        <p:strVal val="visible"/>
                                      </p:to>
                                    </p:set>
                                    <p:anim calcmode="lin" valueType="num">
                                      <p:cBhvr>
                                        <p:cTn id="19" dur="1000" fill="hold"/>
                                        <p:tgtEl>
                                          <p:spTgt spid="2050"/>
                                        </p:tgtEl>
                                        <p:attrNameLst>
                                          <p:attrName>style.rotation</p:attrName>
                                        </p:attrNameLst>
                                      </p:cBhvr>
                                      <p:tavLst>
                                        <p:tav tm="0">
                                          <p:val>
                                            <p:fltVal val="90"/>
                                          </p:val>
                                        </p:tav>
                                        <p:tav tm="80000">
                                          <p:val>
                                            <p:fltVal val="90"/>
                                          </p:val>
                                        </p:tav>
                                        <p:tav tm="80000">
                                          <p:val>
                                            <p:fltVal val="90"/>
                                          </p:val>
                                        </p:tav>
                                        <p:tav tm="100000">
                                          <p:val>
                                            <p:fltVal val="0"/>
                                          </p:val>
                                        </p:tav>
                                      </p:tavLst>
                                    </p:anim>
                                    <p:anim calcmode="lin" valueType="num">
                                      <p:cBhvr>
                                        <p:cTn id="20" dur="1000" fill="hold"/>
                                        <p:tgtEl>
                                          <p:spTgt spid="2050"/>
                                        </p:tgtEl>
                                        <p:attrNameLst>
                                          <p:attrName>ppt_x</p:attrName>
                                        </p:attrNameLst>
                                      </p:cBhvr>
                                      <p:tavLst>
                                        <p:tav tm="0">
                                          <p:val>
                                            <p:fltVal val="-1"/>
                                          </p:val>
                                        </p:tav>
                                        <p:tav tm="50000">
                                          <p:val>
                                            <p:fltVal val="0.95"/>
                                          </p:val>
                                        </p:tav>
                                        <p:tav tm="100000">
                                          <p:val>
                                            <p:strVal val="#ppt_x"/>
                                          </p:val>
                                        </p:tav>
                                      </p:tavLst>
                                    </p:anim>
                                    <p:anim calcmode="lin" valueType="num">
                                      <p:cBhvr>
                                        <p:cTn id="21" dur="1000" fill="hold"/>
                                        <p:tgtEl>
                                          <p:spTgt spid="2050"/>
                                        </p:tgtEl>
                                        <p:attrNameLst>
                                          <p:attrName>ppt_y</p:attrName>
                                        </p:attrNameLst>
                                      </p:cBhvr>
                                      <p:tavLst>
                                        <p:tav tm="0">
                                          <p:val>
                                            <p:strVal val="#ppt_y"/>
                                          </p:val>
                                        </p:tav>
                                        <p:tav tm="100000">
                                          <p:val>
                                            <p:strVal val="#ppt_y"/>
                                          </p:val>
                                        </p:tav>
                                      </p:tavLst>
                                    </p:anim>
                                    <p:animEffect transition="in" filter="fade">
                                      <p:cBhvr>
                                        <p:cTn id="22" dur="1000"/>
                                        <p:tgtEl>
                                          <p:spTgt spid="2050"/>
                                        </p:tgtEl>
                                      </p:cBhvr>
                                    </p:animEffect>
                                  </p:childTnLst>
                                </p:cTn>
                              </p:par>
                              <p:par>
                                <p:cTn id="23" presetID="48" presetClass="entr" presetSubtype="0" accel="50000" fill="hold" nodeType="withEffect">
                                  <p:stCondLst>
                                    <p:cond delay="0"/>
                                  </p:stCondLst>
                                  <p:childTnLst>
                                    <p:set>
                                      <p:cBhvr>
                                        <p:cTn id="24" dur="1" fill="hold">
                                          <p:stCondLst>
                                            <p:cond delay="0"/>
                                          </p:stCondLst>
                                        </p:cTn>
                                        <p:tgtEl>
                                          <p:spTgt spid="2052"/>
                                        </p:tgtEl>
                                        <p:attrNameLst>
                                          <p:attrName>style.visibility</p:attrName>
                                        </p:attrNameLst>
                                      </p:cBhvr>
                                      <p:to>
                                        <p:strVal val="visible"/>
                                      </p:to>
                                    </p:set>
                                    <p:anim calcmode="lin" valueType="num">
                                      <p:cBhvr>
                                        <p:cTn id="25" dur="1000" fill="hold"/>
                                        <p:tgtEl>
                                          <p:spTgt spid="2052"/>
                                        </p:tgtEl>
                                        <p:attrNameLst>
                                          <p:attrName>style.rotation</p:attrName>
                                        </p:attrNameLst>
                                      </p:cBhvr>
                                      <p:tavLst>
                                        <p:tav tm="0">
                                          <p:val>
                                            <p:fltVal val="90"/>
                                          </p:val>
                                        </p:tav>
                                        <p:tav tm="80000">
                                          <p:val>
                                            <p:fltVal val="90"/>
                                          </p:val>
                                        </p:tav>
                                        <p:tav tm="80000">
                                          <p:val>
                                            <p:fltVal val="90"/>
                                          </p:val>
                                        </p:tav>
                                        <p:tav tm="100000">
                                          <p:val>
                                            <p:fltVal val="0"/>
                                          </p:val>
                                        </p:tav>
                                      </p:tavLst>
                                    </p:anim>
                                    <p:anim calcmode="lin" valueType="num">
                                      <p:cBhvr>
                                        <p:cTn id="26" dur="1000" fill="hold"/>
                                        <p:tgtEl>
                                          <p:spTgt spid="2052"/>
                                        </p:tgtEl>
                                        <p:attrNameLst>
                                          <p:attrName>ppt_x</p:attrName>
                                        </p:attrNameLst>
                                      </p:cBhvr>
                                      <p:tavLst>
                                        <p:tav tm="0">
                                          <p:val>
                                            <p:fltVal val="-1"/>
                                          </p:val>
                                        </p:tav>
                                        <p:tav tm="50000">
                                          <p:val>
                                            <p:fltVal val="0.95"/>
                                          </p:val>
                                        </p:tav>
                                        <p:tav tm="100000">
                                          <p:val>
                                            <p:strVal val="#ppt_x"/>
                                          </p:val>
                                        </p:tav>
                                      </p:tavLst>
                                    </p:anim>
                                    <p:anim calcmode="lin" valueType="num">
                                      <p:cBhvr>
                                        <p:cTn id="27" dur="1000" fill="hold"/>
                                        <p:tgtEl>
                                          <p:spTgt spid="2052"/>
                                        </p:tgtEl>
                                        <p:attrNameLst>
                                          <p:attrName>ppt_y</p:attrName>
                                        </p:attrNameLst>
                                      </p:cBhvr>
                                      <p:tavLst>
                                        <p:tav tm="0">
                                          <p:val>
                                            <p:strVal val="#ppt_y"/>
                                          </p:val>
                                        </p:tav>
                                        <p:tav tm="100000">
                                          <p:val>
                                            <p:strVal val="#ppt_y"/>
                                          </p:val>
                                        </p:tav>
                                      </p:tavLst>
                                    </p:anim>
                                    <p:animEffect transition="in" filter="fade">
                                      <p:cBhvr>
                                        <p:cTn id="28" dur="1000"/>
                                        <p:tgtEl>
                                          <p:spTgt spid="20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395536" y="188640"/>
            <a:ext cx="8229600" cy="1647056"/>
          </a:xfrm>
        </p:spPr>
        <p:txBody>
          <a:bodyPr>
            <a:noAutofit/>
          </a:bodyPr>
          <a:lstStyle/>
          <a:p>
            <a:br>
              <a:rPr lang="ru-RU" sz="3200" b="1" dirty="0">
                <a:solidFill>
                  <a:schemeClr val="accent6">
                    <a:lumMod val="75000"/>
                  </a:schemeClr>
                </a:solidFill>
                <a:effectLst>
                  <a:outerShdw blurRad="38100" dist="38100" dir="2700000" algn="tl">
                    <a:srgbClr val="000000">
                      <a:alpha val="43137"/>
                    </a:srgbClr>
                  </a:outerShdw>
                </a:effectLst>
              </a:rPr>
            </a:br>
            <a:r>
              <a:rPr lang="ru-RU" sz="3200" b="1" dirty="0">
                <a:solidFill>
                  <a:schemeClr val="accent6">
                    <a:lumMod val="75000"/>
                  </a:schemeClr>
                </a:solidFill>
                <a:effectLst>
                  <a:outerShdw blurRad="38100" dist="38100" dir="2700000" algn="tl">
                    <a:srgbClr val="000000">
                      <a:alpha val="43137"/>
                    </a:srgbClr>
                  </a:outerShdw>
                </a:effectLst>
              </a:rPr>
              <a:t>CD-ROM</a:t>
            </a:r>
            <a:r>
              <a:rPr lang="ru-RU" sz="3200" dirty="0">
                <a:solidFill>
                  <a:schemeClr val="accent6">
                    <a:lumMod val="75000"/>
                  </a:schemeClr>
                </a:solidFill>
                <a:effectLst>
                  <a:outerShdw blurRad="38100" dist="38100" dir="2700000" algn="tl">
                    <a:srgbClr val="000000">
                      <a:alpha val="43137"/>
                    </a:srgbClr>
                  </a:outerShdw>
                </a:effectLst>
              </a:rPr>
              <a:t>  — разновидность компакт-дисков с записанными на них данными, доступными только для чтения. </a:t>
            </a:r>
            <a:br>
              <a:rPr lang="ru-RU" sz="3200" dirty="0">
                <a:solidFill>
                  <a:schemeClr val="accent6">
                    <a:lumMod val="75000"/>
                  </a:schemeClr>
                </a:solidFill>
                <a:effectLst>
                  <a:outerShdw blurRad="38100" dist="38100" dir="2700000" algn="tl">
                    <a:srgbClr val="000000">
                      <a:alpha val="43137"/>
                    </a:srgbClr>
                  </a:outerShdw>
                </a:effectLst>
              </a:rPr>
            </a:br>
            <a:endParaRPr lang="ru-RU" sz="3200" dirty="0">
              <a:solidFill>
                <a:schemeClr val="accent6">
                  <a:lumMod val="75000"/>
                </a:schemeClr>
              </a:solidFill>
              <a:effectLst>
                <a:outerShdw blurRad="38100" dist="38100" dir="2700000" algn="tl">
                  <a:srgbClr val="000000">
                    <a:alpha val="43137"/>
                  </a:srgbClr>
                </a:outerShdw>
              </a:effectLst>
            </a:endParaRPr>
          </a:p>
        </p:txBody>
      </p:sp>
      <p:sp>
        <p:nvSpPr>
          <p:cNvPr id="3" name="Содержимое 2"/>
          <p:cNvSpPr>
            <a:spLocks noGrp="1"/>
          </p:cNvSpPr>
          <p:nvPr>
            <p:ph idx="1"/>
          </p:nvPr>
        </p:nvSpPr>
        <p:spPr>
          <a:xfrm>
            <a:off x="2483768" y="1988840"/>
            <a:ext cx="6213376" cy="3312368"/>
          </a:xfrm>
        </p:spPr>
        <p:txBody>
          <a:bodyPr>
            <a:normAutofit fontScale="92500"/>
          </a:bodyPr>
          <a:lstStyle/>
          <a:p>
            <a:pPr algn="ctr">
              <a:buNone/>
            </a:pPr>
            <a:r>
              <a:rPr lang="ru-RU" sz="2800" i="1" dirty="0">
                <a:solidFill>
                  <a:schemeClr val="accent6">
                    <a:lumMod val="75000"/>
                  </a:schemeClr>
                </a:solidFill>
              </a:rPr>
              <a:t>CD-ROM — доработанная версия CD-DA (диска для хранения аудиозаписей), позволяющая хранить на нём прочие цифровые данные. Позже были разработаны версии с возможностью как однократной записи (CD-R), так и многократной перезаписи (CD-RW) информации на диск. </a:t>
            </a:r>
          </a:p>
          <a:p>
            <a:pPr algn="ctr">
              <a:buNone/>
            </a:pPr>
            <a:endParaRPr lang="ru-RU" sz="2800" i="1" dirty="0">
              <a:solidFill>
                <a:schemeClr val="accent6">
                  <a:lumMod val="75000"/>
                </a:schemeClr>
              </a:solidFill>
            </a:endParaRPr>
          </a:p>
        </p:txBody>
      </p:sp>
      <p:pic>
        <p:nvPicPr>
          <p:cNvPr id="2050" name="Picture 2" descr="http://chudomama.com/purchases/uploads/aa5/604/55df66833c42691451f2e353ee.jpg"/>
          <p:cNvPicPr>
            <a:picLocks noChangeAspect="1" noChangeArrowheads="1"/>
          </p:cNvPicPr>
          <p:nvPr/>
        </p:nvPicPr>
        <p:blipFill>
          <a:blip r:embed="rId2" cstate="print"/>
          <a:srcRect/>
          <a:stretch>
            <a:fillRect/>
          </a:stretch>
        </p:blipFill>
        <p:spPr bwMode="auto">
          <a:xfrm>
            <a:off x="179512" y="2420888"/>
            <a:ext cx="2641476" cy="2664296"/>
          </a:xfrm>
          <a:prstGeom prst="rect">
            <a:avLst/>
          </a:prstGeom>
          <a:noFill/>
        </p:spPr>
      </p:pic>
      <p:sp>
        <p:nvSpPr>
          <p:cNvPr id="5" name="Прямоугольник 4"/>
          <p:cNvSpPr/>
          <p:nvPr/>
        </p:nvSpPr>
        <p:spPr>
          <a:xfrm>
            <a:off x="251520" y="5229200"/>
            <a:ext cx="8496944" cy="1292662"/>
          </a:xfrm>
          <a:prstGeom prst="rect">
            <a:avLst/>
          </a:prstGeom>
        </p:spPr>
        <p:txBody>
          <a:bodyPr wrap="square">
            <a:spAutoFit/>
          </a:bodyPr>
          <a:lstStyle/>
          <a:p>
            <a:pPr algn="ctr">
              <a:buNone/>
            </a:pPr>
            <a:r>
              <a:rPr lang="ru-RU" sz="2600" i="1" dirty="0">
                <a:solidFill>
                  <a:schemeClr val="accent6">
                    <a:lumMod val="75000"/>
                  </a:schemeClr>
                </a:solidFill>
              </a:rPr>
              <a:t>Диски CD-ROM — популярное и самое дешёвое средство для распространения программного обеспечения, компьютерных игр, мультимедиа.</a:t>
            </a:r>
          </a:p>
        </p:txBody>
      </p:sp>
    </p:spTree>
  </p:cSld>
  <p:clrMapOvr>
    <a:masterClrMapping/>
  </p:clrMapOvr>
  <p:transition>
    <p:cover di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6"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Horizontal)">
                                      <p:cBhvr>
                                        <p:cTn id="7" dur="500"/>
                                        <p:tgtEl>
                                          <p:spTgt spid="2"/>
                                        </p:tgtEl>
                                      </p:cBhvr>
                                    </p:animEffect>
                                  </p:childTnLst>
                                </p:cTn>
                              </p:par>
                              <p:par>
                                <p:cTn id="8" presetID="22" presetClass="entr" presetSubtype="1" fill="hold" grpId="0" nodeType="withEffect">
                                  <p:stCondLst>
                                    <p:cond delay="0"/>
                                  </p:stCondLst>
                                  <p:childTnLst>
                                    <p:set>
                                      <p:cBhvr>
                                        <p:cTn id="9" dur="1" fill="hold">
                                          <p:stCondLst>
                                            <p:cond delay="0"/>
                                          </p:stCondLst>
                                        </p:cTn>
                                        <p:tgtEl>
                                          <p:spTgt spid="3">
                                            <p:txEl>
                                              <p:pRg st="0" end="0"/>
                                            </p:txEl>
                                          </p:spTgt>
                                        </p:tgtEl>
                                        <p:attrNameLst>
                                          <p:attrName>style.visibility</p:attrName>
                                        </p:attrNameLst>
                                      </p:cBhvr>
                                      <p:to>
                                        <p:strVal val="visible"/>
                                      </p:to>
                                    </p:set>
                                    <p:animEffect transition="in" filter="wipe(up)">
                                      <p:cBhvr>
                                        <p:cTn id="10" dur="500"/>
                                        <p:tgtEl>
                                          <p:spTgt spid="3">
                                            <p:txEl>
                                              <p:pRg st="0" end="0"/>
                                            </p:txEl>
                                          </p:spTgt>
                                        </p:tgtEl>
                                      </p:cBhvr>
                                    </p:animEffect>
                                  </p:childTnLst>
                                </p:cTn>
                              </p:par>
                              <p:par>
                                <p:cTn id="11" presetID="22" presetClass="entr" presetSubtype="4"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wipe(down)">
                                      <p:cBhvr>
                                        <p:cTn id="13"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5"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Содержимое 2"/>
          <p:cNvSpPr>
            <a:spLocks noGrp="1"/>
          </p:cNvSpPr>
          <p:nvPr>
            <p:ph idx="1"/>
          </p:nvPr>
        </p:nvSpPr>
        <p:spPr>
          <a:xfrm>
            <a:off x="107504" y="332656"/>
            <a:ext cx="4680520" cy="6120680"/>
          </a:xfrm>
        </p:spPr>
        <p:txBody>
          <a:bodyPr>
            <a:normAutofit fontScale="92500" lnSpcReduction="20000"/>
          </a:bodyPr>
          <a:lstStyle/>
          <a:p>
            <a:pPr algn="ctr">
              <a:buNone/>
            </a:pPr>
            <a:r>
              <a:rPr lang="ru-RU" b="1" i="1" cap="all" dirty="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rPr>
              <a:t>DVD</a:t>
            </a:r>
            <a:r>
              <a:rPr lang="ru-RU" i="1" dirty="0"/>
              <a:t>— носитель информации, выполненный в форме диска, имеющего такой же размер, как и компакт-диск, но более плотную структуру рабочей поверхности, что позволяет хранить и считывать больший объём информации за счёт использования лазера с меньшей длиной волны и линзы с большей числовой апертурой.</a:t>
            </a:r>
          </a:p>
        </p:txBody>
      </p:sp>
      <p:pic>
        <p:nvPicPr>
          <p:cNvPr id="1026" name="Picture 2" descr="http://shop.by/images/lite_on_lh_20a1s_white_1.jpg"/>
          <p:cNvPicPr>
            <a:picLocks noChangeAspect="1" noChangeArrowheads="1"/>
          </p:cNvPicPr>
          <p:nvPr/>
        </p:nvPicPr>
        <p:blipFill>
          <a:blip r:embed="rId2" cstate="print"/>
          <a:srcRect/>
          <a:stretch>
            <a:fillRect/>
          </a:stretch>
        </p:blipFill>
        <p:spPr bwMode="auto">
          <a:xfrm>
            <a:off x="4716016" y="1700808"/>
            <a:ext cx="3770784" cy="3695701"/>
          </a:xfrm>
          <a:prstGeom prst="rect">
            <a:avLst/>
          </a:prstGeom>
          <a:noFill/>
        </p:spPr>
      </p:pic>
    </p:spTree>
  </p:cSld>
  <p:clrMapOvr>
    <a:masterClrMapping/>
  </p:clrMapOvr>
  <p:transition>
    <p:cover di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12"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strips(downLeft)">
                                      <p:cBhvr>
                                        <p:cTn id="7" dur="500"/>
                                        <p:tgtEl>
                                          <p:spTgt spid="3">
                                            <p:txEl>
                                              <p:pRg st="0" end="0"/>
                                            </p:txEl>
                                          </p:spTgt>
                                        </p:tgtEl>
                                      </p:cBhvr>
                                    </p:animEffect>
                                  </p:childTnLst>
                                </p:cTn>
                              </p:par>
                            </p:childTnLst>
                          </p:cTn>
                        </p:par>
                        <p:par>
                          <p:cTn id="8" fill="hold">
                            <p:stCondLst>
                              <p:cond delay="500"/>
                            </p:stCondLst>
                            <p:childTnLst>
                              <p:par>
                                <p:cTn id="9" presetID="22" presetClass="entr" presetSubtype="2" fill="hold" nodeType="afterEffect">
                                  <p:stCondLst>
                                    <p:cond delay="0"/>
                                  </p:stCondLst>
                                  <p:childTnLst>
                                    <p:set>
                                      <p:cBhvr>
                                        <p:cTn id="10" dur="1" fill="hold">
                                          <p:stCondLst>
                                            <p:cond delay="0"/>
                                          </p:stCondLst>
                                        </p:cTn>
                                        <p:tgtEl>
                                          <p:spTgt spid="1026"/>
                                        </p:tgtEl>
                                        <p:attrNameLst>
                                          <p:attrName>style.visibility</p:attrName>
                                        </p:attrNameLst>
                                      </p:cBhvr>
                                      <p:to>
                                        <p:strVal val="visible"/>
                                      </p:to>
                                    </p:set>
                                    <p:animEffect transition="in" filter="wipe(right)">
                                      <p:cBhvr>
                                        <p:cTn id="11" dur="500"/>
                                        <p:tgtEl>
                                          <p:spTgt spid="10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67544" y="0"/>
            <a:ext cx="8229600" cy="1143000"/>
          </a:xfrm>
        </p:spPr>
        <p:txBody>
          <a:bodyPr>
            <a:normAutofit fontScale="90000"/>
          </a:bodyPr>
          <a:lstStyle/>
          <a:p>
            <a:r>
              <a:rPr lang="ru-RU"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Электронные носители информации</a:t>
            </a:r>
          </a:p>
        </p:txBody>
      </p:sp>
      <p:sp>
        <p:nvSpPr>
          <p:cNvPr id="3" name="Содержимое 2"/>
          <p:cNvSpPr>
            <a:spLocks noGrp="1"/>
          </p:cNvSpPr>
          <p:nvPr>
            <p:ph idx="1"/>
          </p:nvPr>
        </p:nvSpPr>
        <p:spPr>
          <a:xfrm>
            <a:off x="395536" y="1196752"/>
            <a:ext cx="8291264" cy="2116832"/>
          </a:xfrm>
        </p:spPr>
        <p:txBody>
          <a:bodyPr/>
          <a:lstStyle/>
          <a:p>
            <a:pPr algn="ctr">
              <a:buNone/>
            </a:pPr>
            <a:r>
              <a:rPr lang="ru-RU" i="1" dirty="0"/>
              <a:t>Флэш-память— разновидность твердотельной полупроводниковой энергонезависимой перезаписываемой памяти. </a:t>
            </a:r>
          </a:p>
        </p:txBody>
      </p:sp>
      <p:pic>
        <p:nvPicPr>
          <p:cNvPr id="3074" name="Picture 2" descr="http://www.samsung.com/us/system/aboutsamsung/content/2007/newsarchive/migration/PressRelease/l_060911_handflash.jpg"/>
          <p:cNvPicPr>
            <a:picLocks noChangeAspect="1" noChangeArrowheads="1"/>
          </p:cNvPicPr>
          <p:nvPr/>
        </p:nvPicPr>
        <p:blipFill>
          <a:blip r:embed="rId2" cstate="print"/>
          <a:srcRect/>
          <a:stretch>
            <a:fillRect/>
          </a:stretch>
        </p:blipFill>
        <p:spPr bwMode="auto">
          <a:xfrm>
            <a:off x="611560" y="3284984"/>
            <a:ext cx="2808312" cy="2156382"/>
          </a:xfrm>
          <a:prstGeom prst="rect">
            <a:avLst/>
          </a:prstGeom>
          <a:noFill/>
        </p:spPr>
      </p:pic>
      <p:pic>
        <p:nvPicPr>
          <p:cNvPr id="3076" name="Picture 4" descr="http://www.market24.ru/linkpics/109821.jpg"/>
          <p:cNvPicPr>
            <a:picLocks noChangeAspect="1" noChangeArrowheads="1"/>
          </p:cNvPicPr>
          <p:nvPr/>
        </p:nvPicPr>
        <p:blipFill>
          <a:blip r:embed="rId3" cstate="print"/>
          <a:srcRect/>
          <a:stretch>
            <a:fillRect/>
          </a:stretch>
        </p:blipFill>
        <p:spPr bwMode="auto">
          <a:xfrm>
            <a:off x="5724128" y="3573016"/>
            <a:ext cx="2647975" cy="2647975"/>
          </a:xfrm>
          <a:prstGeom prst="rect">
            <a:avLst/>
          </a:prstGeom>
          <a:noFill/>
        </p:spPr>
      </p:pic>
      <p:pic>
        <p:nvPicPr>
          <p:cNvPr id="3078" name="Picture 6" descr="http://www.netbooks.pt/imgs/produtos/SDCX10-64GB.jpg"/>
          <p:cNvPicPr>
            <a:picLocks noChangeAspect="1" noChangeArrowheads="1"/>
          </p:cNvPicPr>
          <p:nvPr/>
        </p:nvPicPr>
        <p:blipFill>
          <a:blip r:embed="rId4" cstate="print"/>
          <a:srcRect/>
          <a:stretch>
            <a:fillRect/>
          </a:stretch>
        </p:blipFill>
        <p:spPr bwMode="auto">
          <a:xfrm>
            <a:off x="3275856" y="4509120"/>
            <a:ext cx="1872208" cy="1872208"/>
          </a:xfrm>
          <a:prstGeom prst="rect">
            <a:avLst/>
          </a:prstGeom>
          <a:noFill/>
        </p:spPr>
      </p:pic>
    </p:spTree>
  </p:cSld>
  <p:clrMapOvr>
    <a:masterClrMapping/>
  </p:clrMapOvr>
  <p:transition>
    <p:cover di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mph" presetSubtype="0" fill="hold" grpId="0" nodeType="afterEffect">
                                  <p:stCondLst>
                                    <p:cond delay="0"/>
                                  </p:stCondLst>
                                  <p:iterate type="lt">
                                    <p:tmPct val="4000"/>
                                  </p:iterate>
                                  <p:childTnLst>
                                    <p:set>
                                      <p:cBhvr override="childStyle">
                                        <p:cTn id="6" dur="1000" fill="hold"/>
                                        <p:tgtEl>
                                          <p:spTgt spid="2"/>
                                        </p:tgtEl>
                                        <p:attrNameLst>
                                          <p:attrName>style.textDecorationUnderline</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395536" y="116632"/>
            <a:ext cx="8301608" cy="2123728"/>
          </a:xfrm>
        </p:spPr>
        <p:txBody>
          <a:bodyPr>
            <a:normAutofit fontScale="90000"/>
          </a:bodyPr>
          <a:lstStyle/>
          <a:p>
            <a:r>
              <a:rPr lang="ru-RU" b="1" dirty="0">
                <a:ln w="24500" cmpd="dbl">
                  <a:solidFill>
                    <a:schemeClr val="accent2">
                      <a:shade val="85000"/>
                      <a:satMod val="155000"/>
                    </a:schemeClr>
                  </a:solidFill>
                  <a:prstDash val="solid"/>
                  <a:miter lim="800000"/>
                </a:ln>
                <a:gradFill>
                  <a:gsLst>
                    <a:gs pos="10000">
                      <a:schemeClr val="accent2">
                        <a:tint val="10000"/>
                        <a:satMod val="155000"/>
                      </a:schemeClr>
                    </a:gs>
                    <a:gs pos="60000">
                      <a:schemeClr val="accent2">
                        <a:tint val="30000"/>
                        <a:satMod val="155000"/>
                      </a:schemeClr>
                    </a:gs>
                    <a:gs pos="100000">
                      <a:schemeClr val="accent2">
                        <a:tint val="73000"/>
                        <a:satMod val="155000"/>
                      </a:schemeClr>
                    </a:gs>
                  </a:gsLst>
                  <a:lin ang="5400000"/>
                </a:gradFill>
                <a:effectLst>
                  <a:outerShdw blurRad="38100" dist="38100" dir="7020000" algn="tl">
                    <a:srgbClr val="000000">
                      <a:alpha val="35000"/>
                    </a:srgbClr>
                  </a:outerShdw>
                </a:effectLst>
              </a:rPr>
              <a:t>В каких именно цифровых портативных устройствах используется флэш-память? </a:t>
            </a:r>
            <a:br>
              <a:rPr lang="ru-RU" b="1" dirty="0">
                <a:ln w="24500" cmpd="dbl">
                  <a:solidFill>
                    <a:schemeClr val="accent2">
                      <a:shade val="85000"/>
                      <a:satMod val="155000"/>
                    </a:schemeClr>
                  </a:solidFill>
                  <a:prstDash val="solid"/>
                  <a:miter lim="800000"/>
                </a:ln>
                <a:gradFill>
                  <a:gsLst>
                    <a:gs pos="10000">
                      <a:schemeClr val="accent2">
                        <a:tint val="10000"/>
                        <a:satMod val="155000"/>
                      </a:schemeClr>
                    </a:gs>
                    <a:gs pos="60000">
                      <a:schemeClr val="accent2">
                        <a:tint val="30000"/>
                        <a:satMod val="155000"/>
                      </a:schemeClr>
                    </a:gs>
                    <a:gs pos="100000">
                      <a:schemeClr val="accent2">
                        <a:tint val="73000"/>
                        <a:satMod val="155000"/>
                      </a:schemeClr>
                    </a:gs>
                  </a:gsLst>
                  <a:lin ang="5400000"/>
                </a:gradFill>
                <a:effectLst>
                  <a:outerShdw blurRad="38100" dist="38100" dir="7020000" algn="tl">
                    <a:srgbClr val="000000">
                      <a:alpha val="35000"/>
                    </a:srgbClr>
                  </a:outerShdw>
                </a:effectLst>
              </a:rPr>
            </a:br>
            <a:endParaRPr lang="ru-RU" b="1" dirty="0">
              <a:ln w="24500" cmpd="dbl">
                <a:solidFill>
                  <a:schemeClr val="accent2">
                    <a:shade val="85000"/>
                    <a:satMod val="155000"/>
                  </a:schemeClr>
                </a:solidFill>
                <a:prstDash val="solid"/>
                <a:miter lim="800000"/>
              </a:ln>
              <a:gradFill>
                <a:gsLst>
                  <a:gs pos="10000">
                    <a:schemeClr val="accent2">
                      <a:tint val="10000"/>
                      <a:satMod val="155000"/>
                    </a:schemeClr>
                  </a:gs>
                  <a:gs pos="60000">
                    <a:schemeClr val="accent2">
                      <a:tint val="30000"/>
                      <a:satMod val="155000"/>
                    </a:schemeClr>
                  </a:gs>
                  <a:gs pos="100000">
                    <a:schemeClr val="accent2">
                      <a:tint val="73000"/>
                      <a:satMod val="155000"/>
                    </a:schemeClr>
                  </a:gs>
                </a:gsLst>
                <a:lin ang="5400000"/>
              </a:gradFill>
              <a:effectLst>
                <a:outerShdw blurRad="38100" dist="38100" dir="7020000" algn="tl">
                  <a:srgbClr val="000000">
                    <a:alpha val="35000"/>
                  </a:srgbClr>
                </a:outerShdw>
              </a:effectLst>
            </a:endParaRPr>
          </a:p>
        </p:txBody>
      </p:sp>
      <p:sp>
        <p:nvSpPr>
          <p:cNvPr id="3" name="Содержимое 2"/>
          <p:cNvSpPr>
            <a:spLocks noGrp="1"/>
          </p:cNvSpPr>
          <p:nvPr>
            <p:ph idx="1"/>
          </p:nvPr>
        </p:nvSpPr>
        <p:spPr>
          <a:xfrm>
            <a:off x="467544" y="2132856"/>
            <a:ext cx="8229600" cy="4525963"/>
          </a:xfrm>
        </p:spPr>
        <p:txBody>
          <a:bodyPr>
            <a:normAutofit/>
          </a:bodyPr>
          <a:lstStyle/>
          <a:p>
            <a:pPr>
              <a:buNone/>
            </a:pPr>
            <a:r>
              <a:rPr lang="ru-RU" i="1" dirty="0"/>
              <a:t>— фото- и видеокамерах, диктофонах, MP3-плеерах, КПК, мобильных телефонах, а также смартфонах и коммуникаторах. Кроме того, она используется для хранения встроенного программного обеспечения в различных устройствах (принтерах, сканерах, </a:t>
            </a:r>
            <a:r>
              <a:rPr lang="ru-RU" i="1" dirty="0" err="1"/>
              <a:t>модемax</a:t>
            </a:r>
            <a:r>
              <a:rPr lang="ru-RU" i="1" dirty="0"/>
              <a:t>), различных контроллерах. </a:t>
            </a:r>
          </a:p>
          <a:p>
            <a:endParaRPr lang="ru-RU" i="1" dirty="0"/>
          </a:p>
        </p:txBody>
      </p:sp>
    </p:spTree>
  </p:cSld>
  <p:clrMapOvr>
    <a:masterClrMapping/>
  </p:clrMapOvr>
  <p:transition>
    <p:cover di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7" presetClass="emph" presetSubtype="0" fill="hold" grpId="0" nodeType="afterEffect">
                                  <p:stCondLst>
                                    <p:cond delay="0"/>
                                  </p:stCondLst>
                                  <p:iterate type="lt">
                                    <p:tmPct val="0"/>
                                  </p:iterate>
                                  <p:childTnLst>
                                    <p:animClr clrSpc="rgb" dir="cw">
                                      <p:cBhvr override="childStyle">
                                        <p:cTn id="6" dur="250" autoRev="1" fill="hold"/>
                                        <p:tgtEl>
                                          <p:spTgt spid="2"/>
                                        </p:tgtEl>
                                        <p:attrNameLst>
                                          <p:attrName>style.color</p:attrName>
                                        </p:attrNameLst>
                                      </p:cBhvr>
                                      <p:to>
                                        <a:schemeClr val="bg1"/>
                                      </p:to>
                                    </p:animClr>
                                    <p:animClr clrSpc="rgb" dir="cw">
                                      <p:cBhvr>
                                        <p:cTn id="7" dur="250" autoRev="1" fill="hold"/>
                                        <p:tgtEl>
                                          <p:spTgt spid="2"/>
                                        </p:tgtEl>
                                        <p:attrNameLst>
                                          <p:attrName>fillcolor</p:attrName>
                                        </p:attrNameLst>
                                      </p:cBhvr>
                                      <p:to>
                                        <a:schemeClr val="bg1"/>
                                      </p:to>
                                    </p:animClr>
                                    <p:set>
                                      <p:cBhvr>
                                        <p:cTn id="8" dur="250" autoRev="1" fill="hold"/>
                                        <p:tgtEl>
                                          <p:spTgt spid="2"/>
                                        </p:tgtEl>
                                        <p:attrNameLst>
                                          <p:attrName>fill.type</p:attrName>
                                        </p:attrNameLst>
                                      </p:cBhvr>
                                      <p:to>
                                        <p:strVal val="solid"/>
                                      </p:to>
                                    </p:set>
                                    <p:set>
                                      <p:cBhvr>
                                        <p:cTn id="9" dur="250" autoRev="1" fill="hold"/>
                                        <p:tgtEl>
                                          <p:spTgt spid="2"/>
                                        </p:tgtEl>
                                        <p:attrNameLst>
                                          <p:attrName>fill.on</p:attrName>
                                        </p:attrNameLst>
                                      </p:cBhvr>
                                      <p:to>
                                        <p:strVal val="true"/>
                                      </p:to>
                                    </p:set>
                                  </p:childTnLst>
                                </p:cTn>
                              </p:par>
                              <p:par>
                                <p:cTn id="10" presetID="34" presetClass="emph" presetSubtype="0" fill="hold" grpId="1" nodeType="withEffect">
                                  <p:stCondLst>
                                    <p:cond delay="0"/>
                                  </p:stCondLst>
                                  <p:iterate type="lt">
                                    <p:tmPct val="10000"/>
                                  </p:iterate>
                                  <p:childTnLst>
                                    <p:animMotion origin="layout" path="M 0.0 0.0 L 0.0 -0.07213" pathEditMode="relative" ptsTypes="">
                                      <p:cBhvr>
                                        <p:cTn id="11" dur="250" accel="50000" decel="50000" autoRev="1" fill="hold">
                                          <p:stCondLst>
                                            <p:cond delay="0"/>
                                          </p:stCondLst>
                                        </p:cTn>
                                        <p:tgtEl>
                                          <p:spTgt spid="2"/>
                                        </p:tgtEl>
                                        <p:attrNameLst>
                                          <p:attrName>ppt_x</p:attrName>
                                          <p:attrName>ppt_y</p:attrName>
                                        </p:attrNameLst>
                                      </p:cBhvr>
                                    </p:animMotion>
                                    <p:animRot by="1500000">
                                      <p:cBhvr>
                                        <p:cTn id="12" dur="125" fill="hold">
                                          <p:stCondLst>
                                            <p:cond delay="0"/>
                                          </p:stCondLst>
                                        </p:cTn>
                                        <p:tgtEl>
                                          <p:spTgt spid="2"/>
                                        </p:tgtEl>
                                        <p:attrNameLst>
                                          <p:attrName>r</p:attrName>
                                        </p:attrNameLst>
                                      </p:cBhvr>
                                    </p:animRot>
                                    <p:animRot by="-1500000">
                                      <p:cBhvr>
                                        <p:cTn id="13" dur="125" fill="hold">
                                          <p:stCondLst>
                                            <p:cond delay="125"/>
                                          </p:stCondLst>
                                        </p:cTn>
                                        <p:tgtEl>
                                          <p:spTgt spid="2"/>
                                        </p:tgtEl>
                                        <p:attrNameLst>
                                          <p:attrName>r</p:attrName>
                                        </p:attrNameLst>
                                      </p:cBhvr>
                                    </p:animRot>
                                    <p:animRot by="-1500000">
                                      <p:cBhvr>
                                        <p:cTn id="14" dur="125" fill="hold">
                                          <p:stCondLst>
                                            <p:cond delay="250"/>
                                          </p:stCondLst>
                                        </p:cTn>
                                        <p:tgtEl>
                                          <p:spTgt spid="2"/>
                                        </p:tgtEl>
                                        <p:attrNameLst>
                                          <p:attrName>r</p:attrName>
                                        </p:attrNameLst>
                                      </p:cBhvr>
                                    </p:animRot>
                                    <p:animRot by="1500000">
                                      <p:cBhvr>
                                        <p:cTn id="15" dur="125" fill="hold">
                                          <p:stCondLst>
                                            <p:cond delay="375"/>
                                          </p:stCondLst>
                                        </p:cTn>
                                        <p:tgtEl>
                                          <p:spTgt spid="2"/>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 grpId="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r>
              <a:rPr lang="ru-RU" dirty="0"/>
              <a:t>Где применяются ЗУ? </a:t>
            </a:r>
            <a:br>
              <a:rPr lang="ru-RU" dirty="0"/>
            </a:br>
            <a:endParaRPr lang="ru-RU" dirty="0"/>
          </a:p>
        </p:txBody>
      </p:sp>
      <p:sp>
        <p:nvSpPr>
          <p:cNvPr id="3" name="Содержимое 2"/>
          <p:cNvSpPr>
            <a:spLocks noGrp="1"/>
          </p:cNvSpPr>
          <p:nvPr>
            <p:ph idx="1"/>
          </p:nvPr>
        </p:nvSpPr>
        <p:spPr>
          <a:xfrm>
            <a:off x="467544" y="1124744"/>
            <a:ext cx="8219256" cy="5001419"/>
          </a:xfrm>
        </p:spPr>
        <p:txBody>
          <a:bodyPr>
            <a:normAutofit/>
          </a:bodyPr>
          <a:lstStyle/>
          <a:p>
            <a:pPr algn="ctr">
              <a:buNone/>
            </a:pPr>
            <a:r>
              <a:rPr lang="ru-RU" i="1" dirty="0">
                <a:solidFill>
                  <a:schemeClr val="tx1">
                    <a:lumMod val="75000"/>
                    <a:lumOff val="25000"/>
                  </a:schemeClr>
                </a:solidFill>
              </a:rPr>
              <a:t>Самое большое распространение запоминающие устройства приобрели в компьютерах (компьютерная память). Кроме того, они применяются в устройствах автоматики и телемеханики, в приборах для проведения экспериментов, в бытовых устройствах (телефонах, фотоаппаратах, холодильниках, стиральных машинах и т. д.), в пластиковых карточках, замках. </a:t>
            </a:r>
          </a:p>
          <a:p>
            <a:pPr algn="ctr"/>
            <a:endParaRPr lang="ru-RU" i="1" dirty="0">
              <a:solidFill>
                <a:schemeClr val="tx1">
                  <a:lumMod val="75000"/>
                  <a:lumOff val="25000"/>
                </a:schemeClr>
              </a:solidFill>
            </a:endParaRPr>
          </a:p>
        </p:txBody>
      </p:sp>
    </p:spTree>
  </p:cSld>
  <p:clrMapOvr>
    <a:masterClrMapping/>
  </p:clrMapOvr>
  <p:transition>
    <p:cover di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0" presetClass="entr" presetSubtype="0" fill="hold" grpId="0" nodeType="afterEffect">
                                  <p:stCondLst>
                                    <p:cond delay="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1"/>
                                          </p:val>
                                        </p:tav>
                                        <p:tav tm="100000">
                                          <p:val>
                                            <p:strVal val="#ppt_x"/>
                                          </p:val>
                                        </p:tav>
                                      </p:tavLst>
                                    </p:anim>
                                    <p:anim calcmode="lin" valueType="num">
                                      <p:cBhvr>
                                        <p:cTn id="9" dur="1000" fill="hold"/>
                                        <p:tgtEl>
                                          <p:spTgt spid="2"/>
                                        </p:tgtEl>
                                        <p:attrNameLst>
                                          <p:attrName>ppt_y</p:attrName>
                                        </p:attrNameLst>
                                      </p:cBhvr>
                                      <p:tavLst>
                                        <p:tav tm="0">
                                          <p:val>
                                            <p:strVal val="#ppt_y"/>
                                          </p:val>
                                        </p:tav>
                                        <p:tav tm="100000">
                                          <p:val>
                                            <p:strVal val="#ppt_y"/>
                                          </p:val>
                                        </p:tav>
                                      </p:tavLst>
                                    </p:anim>
                                  </p:childTnLst>
                                </p:cTn>
                              </p:par>
                            </p:childTnLst>
                          </p:cTn>
                        </p:par>
                        <p:par>
                          <p:cTn id="10" fill="hold">
                            <p:stCondLst>
                              <p:cond delay="2600"/>
                            </p:stCondLst>
                            <p:childTnLst>
                              <p:par>
                                <p:cTn id="11" presetID="22" presetClass="entr" presetSubtype="1" fill="hold" grpId="0" nodeType="after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Effect transition="in" filter="wipe(up)">
                                      <p:cBhvr>
                                        <p:cTn id="13"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0" y="116632"/>
            <a:ext cx="1018456" cy="274042"/>
          </a:xfrm>
        </p:spPr>
        <p:txBody>
          <a:bodyPr>
            <a:normAutofit/>
          </a:bodyPr>
          <a:lstStyle/>
          <a:p>
            <a:r>
              <a:rPr lang="ru-RU" sz="1000" dirty="0"/>
              <a:t>Таблица</a:t>
            </a:r>
          </a:p>
        </p:txBody>
      </p:sp>
      <p:graphicFrame>
        <p:nvGraphicFramePr>
          <p:cNvPr id="4" name="Содержимое 3"/>
          <p:cNvGraphicFramePr>
            <a:graphicFrameLocks noGrp="1" noChangeAspect="1"/>
          </p:cNvGraphicFramePr>
          <p:nvPr>
            <p:ph idx="1"/>
          </p:nvPr>
        </p:nvGraphicFramePr>
        <p:xfrm>
          <a:off x="251519" y="116632"/>
          <a:ext cx="8784977" cy="6261200"/>
        </p:xfrm>
        <a:graphic>
          <a:graphicData uri="http://schemas.openxmlformats.org/presentationml/2006/ole">
            <mc:AlternateContent xmlns:mc="http://schemas.openxmlformats.org/markup-compatibility/2006">
              <mc:Choice xmlns:v="urn:schemas-microsoft-com:vml" Requires="v">
                <p:oleObj spid="_x0000_s1026" name="Worksheet" r:id="rId3" imgW="6202623" imgH="6004642" progId="Excel.Sheet.8">
                  <p:embed/>
                </p:oleObj>
              </mc:Choice>
              <mc:Fallback>
                <p:oleObj name="Worksheet" r:id="rId3" imgW="6202623" imgH="6004642" progId="Excel.Sheet.8">
                  <p:embed/>
                  <p:pic>
                    <p:nvPicPr>
                      <p:cNvPr id="0" name="Содержимое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1519" y="116632"/>
                        <a:ext cx="8784977" cy="6261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ransition>
    <p:cover dir="d"/>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Содержимое 3"/>
          <p:cNvGraphicFramePr>
            <a:graphicFrameLocks noGrp="1"/>
          </p:cNvGraphicFramePr>
          <p:nvPr>
            <p:ph idx="1"/>
          </p:nvPr>
        </p:nvGraphicFramePr>
        <p:xfrm>
          <a:off x="467544" y="692696"/>
          <a:ext cx="8219256" cy="5433467"/>
        </p:xfrm>
        <a:graphic>
          <a:graphicData uri="http://schemas.openxmlformats.org/drawingml/2006/chart">
            <c:chart xmlns:c="http://schemas.openxmlformats.org/drawingml/2006/chart" xmlns:r="http://schemas.openxmlformats.org/officeDocument/2006/relationships" r:id="rId2"/>
          </a:graphicData>
        </a:graphic>
      </p:graphicFrame>
    </p:spTree>
  </p:cSld>
  <p:clrMapOvr>
    <a:masterClrMapping/>
  </p:clrMapOvr>
  <p:transition>
    <p:cover dir="d"/>
  </p:transition>
</p:sld>
</file>

<file path=ppt/slides/slide18.xml><?xml version="1.0" encoding="utf-8"?>
<p:sld xmlns:a="http://schemas.openxmlformats.org/drawingml/2006/main" xmlns:r="http://schemas.openxmlformats.org/officeDocument/2006/relationships" xmlns:p="http://schemas.openxmlformats.org/presentationml/2006/main">
  <p:cSld>
    <p:bg>
      <p:bgPr>
        <a:blipFill dpi="0" rotWithShape="1">
          <a:blip r:embed="rId3" cstate="print">
            <a:lum/>
          </a:blip>
          <a:srcRect/>
          <a:stretch>
            <a:fillRect t="-10000" b="-10000"/>
          </a:stretch>
        </a:blipFill>
        <a:effectLst/>
      </p:bgPr>
    </p:bg>
    <p:spTree>
      <p:nvGrpSpPr>
        <p:cNvPr id="1" name=""/>
        <p:cNvGrpSpPr/>
        <p:nvPr/>
      </p:nvGrpSpPr>
      <p:grpSpPr>
        <a:xfrm>
          <a:off x="0" y="0"/>
          <a:ext cx="0" cy="0"/>
          <a:chOff x="0" y="0"/>
          <a:chExt cx="0" cy="0"/>
        </a:xfrm>
      </p:grpSpPr>
      <p:sp>
        <p:nvSpPr>
          <p:cNvPr id="8" name="Содержимое 7"/>
          <p:cNvSpPr>
            <a:spLocks noGrp="1"/>
          </p:cNvSpPr>
          <p:nvPr>
            <p:ph idx="1"/>
          </p:nvPr>
        </p:nvSpPr>
        <p:spPr>
          <a:xfrm>
            <a:off x="611560" y="476673"/>
            <a:ext cx="8075240" cy="5400600"/>
          </a:xfrm>
        </p:spPr>
        <p:style>
          <a:lnRef idx="2">
            <a:schemeClr val="accent1"/>
          </a:lnRef>
          <a:fillRef idx="1">
            <a:schemeClr val="lt1"/>
          </a:fillRef>
          <a:effectRef idx="0">
            <a:schemeClr val="accent1"/>
          </a:effectRef>
          <a:fontRef idx="minor">
            <a:schemeClr val="dk1"/>
          </a:fontRef>
        </p:style>
        <p:txBody>
          <a:bodyPr>
            <a:normAutofit fontScale="85000" lnSpcReduction="10000"/>
          </a:bodyPr>
          <a:lstStyle/>
          <a:p>
            <a:pPr algn="ctr">
              <a:buNone/>
            </a:pPr>
            <a:r>
              <a:rPr lang="ru-RU" dirty="0">
                <a:solidFill>
                  <a:schemeClr val="accent1">
                    <a:lumMod val="60000"/>
                    <a:lumOff val="40000"/>
                  </a:schemeClr>
                </a:solidFill>
                <a:effectLst>
                  <a:outerShdw blurRad="38100" dist="38100" dir="2700000" algn="tl">
                    <a:srgbClr val="000000">
                      <a:alpha val="43137"/>
                    </a:srgbClr>
                  </a:outerShdw>
                </a:effectLst>
              </a:rPr>
              <a:t>Сегодня прогресс в области компьютерных технологий вообще и запоминающих устройств в частности стремительно меняет мир.</a:t>
            </a:r>
          </a:p>
          <a:p>
            <a:pPr algn="ctr">
              <a:buNone/>
            </a:pPr>
            <a:r>
              <a:rPr lang="ru-RU" dirty="0">
                <a:solidFill>
                  <a:schemeClr val="accent1">
                    <a:lumMod val="60000"/>
                    <a:lumOff val="40000"/>
                  </a:schemeClr>
                </a:solidFill>
                <a:effectLst>
                  <a:outerShdw blurRad="38100" dist="38100" dir="2700000" algn="tl">
                    <a:srgbClr val="000000">
                      <a:alpha val="43137"/>
                    </a:srgbClr>
                  </a:outerShdw>
                </a:effectLst>
              </a:rPr>
              <a:t>В будущее заглядывать — дело неблагодарное, но можно с уверенностью утверждать: если производители не смогут победить единственный серьезный недостаток флэш-памяти, не сумеют достичь необходимого пользователям объема HDD или создать простой и надежный голографический диск, они неизбежно придумают другой способ хранения информации.</a:t>
            </a:r>
          </a:p>
          <a:p>
            <a:pPr algn="ctr">
              <a:buNone/>
            </a:pPr>
            <a:r>
              <a:rPr lang="ru-RU" dirty="0">
                <a:solidFill>
                  <a:schemeClr val="accent1">
                    <a:lumMod val="60000"/>
                    <a:lumOff val="40000"/>
                  </a:schemeClr>
                </a:solidFill>
                <a:effectLst>
                  <a:outerShdw blurRad="38100" dist="38100" dir="2700000" algn="tl">
                    <a:srgbClr val="000000">
                      <a:alpha val="43137"/>
                    </a:srgbClr>
                  </a:outerShdw>
                </a:effectLst>
              </a:rPr>
              <a:t>Дешевый, надежный, компактный, быстрый.</a:t>
            </a:r>
          </a:p>
          <a:p>
            <a:pPr algn="ctr">
              <a:buNone/>
            </a:pPr>
            <a:r>
              <a:rPr lang="ru-RU" dirty="0">
                <a:solidFill>
                  <a:schemeClr val="accent1">
                    <a:lumMod val="60000"/>
                    <a:lumOff val="40000"/>
                  </a:schemeClr>
                </a:solidFill>
                <a:effectLst>
                  <a:outerShdw blurRad="38100" dist="38100" dir="2700000" algn="tl">
                    <a:srgbClr val="000000">
                      <a:alpha val="43137"/>
                    </a:srgbClr>
                  </a:outerShdw>
                </a:effectLst>
              </a:rPr>
              <a:t>Вечный.</a:t>
            </a:r>
          </a:p>
          <a:p>
            <a:endParaRPr lang="ru-RU" dirty="0"/>
          </a:p>
        </p:txBody>
      </p:sp>
      <p:sp>
        <p:nvSpPr>
          <p:cNvPr id="4" name="Управляющая кнопка: в начало 3">
            <a:hlinkClick r:id="" action="ppaction://hlinkshowjump?jump=firstslide" highlightClick="1"/>
          </p:cNvPr>
          <p:cNvSpPr/>
          <p:nvPr/>
        </p:nvSpPr>
        <p:spPr>
          <a:xfrm>
            <a:off x="467544" y="6093296"/>
            <a:ext cx="610368" cy="360040"/>
          </a:xfrm>
          <a:prstGeom prst="actionButtonBeginning">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Tree>
  </p:cSld>
  <p:clrMapOvr>
    <a:masterClrMapping/>
  </p:clrMapOvr>
  <p:transition spd="med">
    <p:cover di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8">
                                            <p:bg/>
                                          </p:spTgt>
                                        </p:tgtEl>
                                        <p:attrNameLst>
                                          <p:attrName>style.visibility</p:attrName>
                                        </p:attrNameLst>
                                      </p:cBhvr>
                                      <p:to>
                                        <p:strVal val="visible"/>
                                      </p:to>
                                    </p:set>
                                    <p:anim calcmode="lin" valueType="num">
                                      <p:cBhvr additive="base">
                                        <p:cTn id="7" dur="500" fill="hold"/>
                                        <p:tgtEl>
                                          <p:spTgt spid="8">
                                            <p:bg/>
                                          </p:spTgt>
                                        </p:tgtEl>
                                        <p:attrNameLst>
                                          <p:attrName>ppt_x</p:attrName>
                                        </p:attrNameLst>
                                      </p:cBhvr>
                                      <p:tavLst>
                                        <p:tav tm="0">
                                          <p:val>
                                            <p:strVal val="#ppt_x"/>
                                          </p:val>
                                        </p:tav>
                                        <p:tav tm="100000">
                                          <p:val>
                                            <p:strVal val="#ppt_x"/>
                                          </p:val>
                                        </p:tav>
                                      </p:tavLst>
                                    </p:anim>
                                    <p:anim calcmode="lin" valueType="num">
                                      <p:cBhvr additive="base">
                                        <p:cTn id="8" dur="500" fill="hold"/>
                                        <p:tgtEl>
                                          <p:spTgt spid="8">
                                            <p:bg/>
                                          </p:spTgt>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grpId="0" nodeType="afterEffect">
                                  <p:stCondLst>
                                    <p:cond delay="0"/>
                                  </p:stCondLst>
                                  <p:childTnLst>
                                    <p:set>
                                      <p:cBhvr>
                                        <p:cTn id="11" dur="1" fill="hold">
                                          <p:stCondLst>
                                            <p:cond delay="0"/>
                                          </p:stCondLst>
                                        </p:cTn>
                                        <p:tgtEl>
                                          <p:spTgt spid="8">
                                            <p:txEl>
                                              <p:pRg st="0" end="0"/>
                                            </p:txEl>
                                          </p:spTgt>
                                        </p:tgtEl>
                                        <p:attrNameLst>
                                          <p:attrName>style.visibility</p:attrName>
                                        </p:attrNameLst>
                                      </p:cBhvr>
                                      <p:to>
                                        <p:strVal val="visible"/>
                                      </p:to>
                                    </p:set>
                                    <p:anim calcmode="lin" valueType="num">
                                      <p:cBhvr additive="base">
                                        <p:cTn id="12" dur="500" fill="hold"/>
                                        <p:tgtEl>
                                          <p:spTgt spid="8">
                                            <p:txEl>
                                              <p:pRg st="0" end="0"/>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8">
                                            <p:txEl>
                                              <p:pRg st="0" end="0"/>
                                            </p:txEl>
                                          </p:spTgt>
                                        </p:tgtEl>
                                        <p:attrNameLst>
                                          <p:attrName>ppt_y</p:attrName>
                                        </p:attrNameLst>
                                      </p:cBhvr>
                                      <p:tavLst>
                                        <p:tav tm="0">
                                          <p:val>
                                            <p:strVal val="1+#ppt_h/2"/>
                                          </p:val>
                                        </p:tav>
                                        <p:tav tm="100000">
                                          <p:val>
                                            <p:strVal val="#ppt_y"/>
                                          </p:val>
                                        </p:tav>
                                      </p:tavLst>
                                    </p:anim>
                                  </p:childTnLst>
                                </p:cTn>
                              </p:par>
                            </p:childTnLst>
                          </p:cTn>
                        </p:par>
                        <p:par>
                          <p:cTn id="14" fill="hold">
                            <p:stCondLst>
                              <p:cond delay="1000"/>
                            </p:stCondLst>
                            <p:childTnLst>
                              <p:par>
                                <p:cTn id="15" presetID="2" presetClass="entr" presetSubtype="4" fill="hold" grpId="0" nodeType="afterEffect">
                                  <p:stCondLst>
                                    <p:cond delay="0"/>
                                  </p:stCondLst>
                                  <p:childTnLst>
                                    <p:set>
                                      <p:cBhvr>
                                        <p:cTn id="16" dur="1" fill="hold">
                                          <p:stCondLst>
                                            <p:cond delay="0"/>
                                          </p:stCondLst>
                                        </p:cTn>
                                        <p:tgtEl>
                                          <p:spTgt spid="8">
                                            <p:txEl>
                                              <p:pRg st="1" end="1"/>
                                            </p:txEl>
                                          </p:spTgt>
                                        </p:tgtEl>
                                        <p:attrNameLst>
                                          <p:attrName>style.visibility</p:attrName>
                                        </p:attrNameLst>
                                      </p:cBhvr>
                                      <p:to>
                                        <p:strVal val="visible"/>
                                      </p:to>
                                    </p:set>
                                    <p:anim calcmode="lin" valueType="num">
                                      <p:cBhvr additive="base">
                                        <p:cTn id="17" dur="500" fill="hold"/>
                                        <p:tgtEl>
                                          <p:spTgt spid="8">
                                            <p:txEl>
                                              <p:pRg st="1" end="1"/>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8">
                                            <p:txEl>
                                              <p:pRg st="1" end="1"/>
                                            </p:txEl>
                                          </p:spTgt>
                                        </p:tgtEl>
                                        <p:attrNameLst>
                                          <p:attrName>ppt_y</p:attrName>
                                        </p:attrNameLst>
                                      </p:cBhvr>
                                      <p:tavLst>
                                        <p:tav tm="0">
                                          <p:val>
                                            <p:strVal val="1+#ppt_h/2"/>
                                          </p:val>
                                        </p:tav>
                                        <p:tav tm="100000">
                                          <p:val>
                                            <p:strVal val="#ppt_y"/>
                                          </p:val>
                                        </p:tav>
                                      </p:tavLst>
                                    </p:anim>
                                  </p:childTnLst>
                                </p:cTn>
                              </p:par>
                            </p:childTnLst>
                          </p:cTn>
                        </p:par>
                        <p:par>
                          <p:cTn id="19" fill="hold">
                            <p:stCondLst>
                              <p:cond delay="1500"/>
                            </p:stCondLst>
                            <p:childTnLst>
                              <p:par>
                                <p:cTn id="20" presetID="2" presetClass="entr" presetSubtype="4" fill="hold" grpId="0" nodeType="afterEffect">
                                  <p:stCondLst>
                                    <p:cond delay="0"/>
                                  </p:stCondLst>
                                  <p:childTnLst>
                                    <p:set>
                                      <p:cBhvr>
                                        <p:cTn id="21" dur="1" fill="hold">
                                          <p:stCondLst>
                                            <p:cond delay="0"/>
                                          </p:stCondLst>
                                        </p:cTn>
                                        <p:tgtEl>
                                          <p:spTgt spid="8">
                                            <p:txEl>
                                              <p:pRg st="2" end="2"/>
                                            </p:txEl>
                                          </p:spTgt>
                                        </p:tgtEl>
                                        <p:attrNameLst>
                                          <p:attrName>style.visibility</p:attrName>
                                        </p:attrNameLst>
                                      </p:cBhvr>
                                      <p:to>
                                        <p:strVal val="visible"/>
                                      </p:to>
                                    </p:set>
                                    <p:anim calcmode="lin" valueType="num">
                                      <p:cBhvr additive="base">
                                        <p:cTn id="22" dur="500" fill="hold"/>
                                        <p:tgtEl>
                                          <p:spTgt spid="8">
                                            <p:txEl>
                                              <p:pRg st="2" end="2"/>
                                            </p:txEl>
                                          </p:spTgt>
                                        </p:tgtEl>
                                        <p:attrNameLst>
                                          <p:attrName>ppt_x</p:attrName>
                                        </p:attrNameLst>
                                      </p:cBhvr>
                                      <p:tavLst>
                                        <p:tav tm="0">
                                          <p:val>
                                            <p:strVal val="#ppt_x"/>
                                          </p:val>
                                        </p:tav>
                                        <p:tav tm="100000">
                                          <p:val>
                                            <p:strVal val="#ppt_x"/>
                                          </p:val>
                                        </p:tav>
                                      </p:tavLst>
                                    </p:anim>
                                    <p:anim calcmode="lin" valueType="num">
                                      <p:cBhvr additive="base">
                                        <p:cTn id="23" dur="500" fill="hold"/>
                                        <p:tgtEl>
                                          <p:spTgt spid="8">
                                            <p:txEl>
                                              <p:pRg st="2" end="2"/>
                                            </p:txEl>
                                          </p:spTgt>
                                        </p:tgtEl>
                                        <p:attrNameLst>
                                          <p:attrName>ppt_y</p:attrName>
                                        </p:attrNameLst>
                                      </p:cBhvr>
                                      <p:tavLst>
                                        <p:tav tm="0">
                                          <p:val>
                                            <p:strVal val="1+#ppt_h/2"/>
                                          </p:val>
                                        </p:tav>
                                        <p:tav tm="100000">
                                          <p:val>
                                            <p:strVal val="#ppt_y"/>
                                          </p:val>
                                        </p:tav>
                                      </p:tavLst>
                                    </p:anim>
                                  </p:childTnLst>
                                </p:cTn>
                              </p:par>
                            </p:childTnLst>
                          </p:cTn>
                        </p:par>
                        <p:par>
                          <p:cTn id="24" fill="hold">
                            <p:stCondLst>
                              <p:cond delay="2000"/>
                            </p:stCondLst>
                            <p:childTnLst>
                              <p:par>
                                <p:cTn id="25" presetID="2" presetClass="entr" presetSubtype="4" fill="hold" grpId="0" nodeType="afterEffect">
                                  <p:stCondLst>
                                    <p:cond delay="0"/>
                                  </p:stCondLst>
                                  <p:childTnLst>
                                    <p:set>
                                      <p:cBhvr>
                                        <p:cTn id="26" dur="1" fill="hold">
                                          <p:stCondLst>
                                            <p:cond delay="0"/>
                                          </p:stCondLst>
                                        </p:cTn>
                                        <p:tgtEl>
                                          <p:spTgt spid="8">
                                            <p:txEl>
                                              <p:pRg st="3" end="3"/>
                                            </p:txEl>
                                          </p:spTgt>
                                        </p:tgtEl>
                                        <p:attrNameLst>
                                          <p:attrName>style.visibility</p:attrName>
                                        </p:attrNameLst>
                                      </p:cBhvr>
                                      <p:to>
                                        <p:strVal val="visible"/>
                                      </p:to>
                                    </p:set>
                                    <p:anim calcmode="lin" valueType="num">
                                      <p:cBhvr additive="base">
                                        <p:cTn id="27" dur="500" fill="hold"/>
                                        <p:tgtEl>
                                          <p:spTgt spid="8">
                                            <p:txEl>
                                              <p:pRg st="3" end="3"/>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8">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animBg="1"/>
    </p:bldLst>
  </p:timing>
</p:sld>
</file>

<file path=ppt/theme/theme1.xml><?xml version="1.0" encoding="utf-8"?>
<a:theme xmlns:a="http://schemas.openxmlformats.org/drawingml/2006/main" name="Тема Office">
  <a:themeElements>
    <a:clrScheme name="Стандартная">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Стандартная">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Стандартная">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Тема Office">
  <a:themeElements>
    <a:clrScheme name="Стандартная">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Стандартная">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Стандартная">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Тема Office">
  <a:themeElements>
    <a:clrScheme name="Стандартная">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Стандартная">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Стандартная">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182</TotalTime>
  <Words>646</Words>
  <Application>Microsoft Office PowerPoint</Application>
  <PresentationFormat>Экран (4:3)</PresentationFormat>
  <Paragraphs>42</Paragraphs>
  <Slides>18</Slides>
  <Notes>2</Notes>
  <HiddenSlides>0</HiddenSlides>
  <MMClips>0</MMClips>
  <ScaleCrop>false</ScaleCrop>
  <HeadingPairs>
    <vt:vector size="8" baseType="variant">
      <vt:variant>
        <vt:lpstr>Использованные шрифты</vt:lpstr>
      </vt:variant>
      <vt:variant>
        <vt:i4>3</vt:i4>
      </vt:variant>
      <vt:variant>
        <vt:lpstr>Тема</vt:lpstr>
      </vt:variant>
      <vt:variant>
        <vt:i4>1</vt:i4>
      </vt:variant>
      <vt:variant>
        <vt:lpstr>Внедренные серверы OLE</vt:lpstr>
      </vt:variant>
      <vt:variant>
        <vt:i4>1</vt:i4>
      </vt:variant>
      <vt:variant>
        <vt:lpstr>Заголовки слайдов</vt:lpstr>
      </vt:variant>
      <vt:variant>
        <vt:i4>18</vt:i4>
      </vt:variant>
    </vt:vector>
  </HeadingPairs>
  <TitlesOfParts>
    <vt:vector size="23" baseType="lpstr">
      <vt:lpstr>Arial</vt:lpstr>
      <vt:lpstr>Bookman Old Style</vt:lpstr>
      <vt:lpstr>Calibri</vt:lpstr>
      <vt:lpstr>Тема Office</vt:lpstr>
      <vt:lpstr>Worksheet</vt:lpstr>
      <vt:lpstr>Презентация PowerPoint</vt:lpstr>
      <vt:lpstr>Носитель информации -</vt:lpstr>
      <vt:lpstr>Презентация PowerPoint</vt:lpstr>
      <vt:lpstr>Ленточные носители информации </vt:lpstr>
      <vt:lpstr>Дисковые носители информации </vt:lpstr>
      <vt:lpstr>Презентация PowerPoint</vt:lpstr>
      <vt:lpstr>Презентация PowerPoint</vt:lpstr>
      <vt:lpstr>Презентация PowerPoint</vt:lpstr>
      <vt:lpstr>Презентация PowerPoint</vt:lpstr>
      <vt:lpstr>Презентация PowerPoint</vt:lpstr>
      <vt:lpstr> CD-ROM  — разновидность компакт-дисков с записанными на них данными, доступными только для чтения.  </vt:lpstr>
      <vt:lpstr>Презентация PowerPoint</vt:lpstr>
      <vt:lpstr>Электронные носители информации</vt:lpstr>
      <vt:lpstr>В каких именно цифровых портативных устройствах используется флэш-память?  </vt:lpstr>
      <vt:lpstr>Где применяются ЗУ?  </vt:lpstr>
      <vt:lpstr>Таблица</vt:lpstr>
      <vt:lpstr>Презентация PowerPoint</vt:lpstr>
      <vt:lpstr>Презентация PowerPoint</vt:lpstr>
    </vt:vector>
  </TitlesOfParts>
  <Company>DG Win&amp;Soft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Виды носителей информации</dc:title>
  <dc:creator>Tanja</dc:creator>
  <cp:lastModifiedBy>User</cp:lastModifiedBy>
  <cp:revision>27</cp:revision>
  <dcterms:created xsi:type="dcterms:W3CDTF">2013-12-07T08:24:50Z</dcterms:created>
  <dcterms:modified xsi:type="dcterms:W3CDTF">2024-02-12T18:22:36Z</dcterms:modified>
</cp:coreProperties>
</file>